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1"/>
  </p:notesMasterIdLst>
  <p:sldIdLst>
    <p:sldId id="256" r:id="rId2"/>
    <p:sldId id="257" r:id="rId3"/>
    <p:sldId id="258" r:id="rId4"/>
    <p:sldId id="268" r:id="rId5"/>
    <p:sldId id="269" r:id="rId6"/>
    <p:sldId id="260" r:id="rId7"/>
    <p:sldId id="270" r:id="rId8"/>
    <p:sldId id="271" r:id="rId9"/>
    <p:sldId id="272" r:id="rId10"/>
    <p:sldId id="286" r:id="rId11"/>
    <p:sldId id="287" r:id="rId12"/>
    <p:sldId id="288" r:id="rId13"/>
    <p:sldId id="289" r:id="rId14"/>
    <p:sldId id="265" r:id="rId15"/>
    <p:sldId id="276" r:id="rId16"/>
    <p:sldId id="267" r:id="rId17"/>
    <p:sldId id="266" r:id="rId18"/>
    <p:sldId id="290" r:id="rId19"/>
    <p:sldId id="291" r:id="rId20"/>
    <p:sldId id="292" r:id="rId21"/>
    <p:sldId id="293" r:id="rId22"/>
    <p:sldId id="282" r:id="rId23"/>
    <p:sldId id="283" r:id="rId24"/>
    <p:sldId id="284" r:id="rId25"/>
    <p:sldId id="285" r:id="rId26"/>
    <p:sldId id="277" r:id="rId27"/>
    <p:sldId id="278" r:id="rId28"/>
    <p:sldId id="279" r:id="rId29"/>
    <p:sldId id="28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90"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C7BEDE-AE80-4DD9-9E6F-F387B1B5FA5E}" type="datetimeFigureOut">
              <a:rPr lang="en-US" smtClean="0"/>
              <a:pPr/>
              <a:t>3/29/2013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6322CB5-E967-4CC3-859C-B61BDA0C79B4}" type="slidenum">
              <a:rPr lang="en-US" smtClean="0"/>
              <a:pPr/>
              <a:t>‹#›</a:t>
            </a:fld>
            <a:endParaRPr lang="en-US"/>
          </a:p>
        </p:txBody>
      </p:sp>
    </p:spTree>
    <p:extLst>
      <p:ext uri="{BB962C8B-B14F-4D97-AF65-F5344CB8AC3E}">
        <p14:creationId xmlns:p14="http://schemas.microsoft.com/office/powerpoint/2010/main" val="3535025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dirty="0"/>
          </a:p>
        </p:txBody>
      </p:sp>
      <p:sp>
        <p:nvSpPr>
          <p:cNvPr id="4" name="灯片编号占位符 3"/>
          <p:cNvSpPr>
            <a:spLocks noGrp="1"/>
          </p:cNvSpPr>
          <p:nvPr>
            <p:ph type="sldNum" sz="quarter" idx="10"/>
          </p:nvPr>
        </p:nvSpPr>
        <p:spPr/>
        <p:txBody>
          <a:bodyPr/>
          <a:lstStyle/>
          <a:p>
            <a:fld id="{E7DA51C8-B963-44A1-AD69-77532875D65F}" type="slidenum">
              <a:rPr lang="en-US" smtClean="0">
                <a:solidFill>
                  <a:prstClr val="black"/>
                </a:solidFill>
              </a:rPr>
              <a:pPr/>
              <a:t>10</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a:ea typeface="+mn-ea"/>
                <a:cs typeface="+mn-cs"/>
              </a:rPr>
              <a:t>Band stop filter is a filter that passes most frequency but attenuates those in a specific range to very low levels.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black"/>
                </a:solidFill>
                <a:effectLst/>
                <a:uLnTx/>
                <a:uFillTx/>
                <a:latin typeface="Gill Sans MT"/>
                <a:ea typeface="+mn-ea"/>
                <a:cs typeface="+mn-cs"/>
              </a:rPr>
              <a:t>A notch filter is a band-stop filter with a narrow stop band (high Q factor). In our case, we need to eliminate the mains hum, which is an audible oscillation of AC at the frequency of the mains electricity at 60 Hz. So our notch frequency is 60 Hz. The reason we choose the digital design is that notch filter has side effect on the ECG signal when the voltage gain slope is not -40dB/decade, part of ECG signal will be distorted, so in our project we use digital design to make sure notch filter has accurate slope at -40 dB/decade</a:t>
            </a:r>
            <a:endParaRPr lang="en-US" sz="1800" dirty="0" smtClean="0"/>
          </a:p>
          <a:p>
            <a:endParaRPr lang="en-US" dirty="0"/>
          </a:p>
        </p:txBody>
      </p:sp>
      <p:sp>
        <p:nvSpPr>
          <p:cNvPr id="4" name="Slide Number Placeholder 3"/>
          <p:cNvSpPr>
            <a:spLocks noGrp="1"/>
          </p:cNvSpPr>
          <p:nvPr>
            <p:ph type="sldNum" sz="quarter" idx="10"/>
          </p:nvPr>
        </p:nvSpPr>
        <p:spPr/>
        <p:txBody>
          <a:bodyPr/>
          <a:lstStyle/>
          <a:p>
            <a:fld id="{FECF83B0-60EB-4F48-8395-AB44C0CA7148}"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14347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Picture 1 is the ECG signal;</a:t>
            </a:r>
            <a:r>
              <a:rPr lang="en-US" baseline="0" dirty="0" smtClean="0"/>
              <a:t> When we analyze these spectrum, especially when we zoom in, we can see the 60 Hz power noise; To erase the 60 Hz power noise, we need to use the Notch filter to eliminate the signal at 60 Hz.</a:t>
            </a:r>
            <a:endParaRPr lang="en-US" dirty="0" smtClean="0"/>
          </a:p>
        </p:txBody>
      </p:sp>
      <p:sp>
        <p:nvSpPr>
          <p:cNvPr id="4" name="Slide Number Placeholder 3"/>
          <p:cNvSpPr>
            <a:spLocks noGrp="1"/>
          </p:cNvSpPr>
          <p:nvPr>
            <p:ph type="sldNum" sz="quarter" idx="10"/>
          </p:nvPr>
        </p:nvSpPr>
        <p:spPr/>
        <p:txBody>
          <a:bodyPr/>
          <a:lstStyle/>
          <a:p>
            <a:fld id="{FECF83B0-60EB-4F48-8395-AB44C0CA7148}" type="slidenum">
              <a:rPr lang="en-US" smtClean="0"/>
              <a:pPr/>
              <a:t>22</a:t>
            </a:fld>
            <a:endParaRPr lang="en-US"/>
          </a:p>
        </p:txBody>
      </p:sp>
    </p:spTree>
    <p:extLst>
      <p:ext uri="{BB962C8B-B14F-4D97-AF65-F5344CB8AC3E}">
        <p14:creationId xmlns:p14="http://schemas.microsoft.com/office/powerpoint/2010/main" val="1930369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ECF83B0-60EB-4F48-8395-AB44C0CA7148}" type="slidenum">
              <a:rPr lang="en-US" smtClean="0"/>
              <a:pPr/>
              <a:t>23</a:t>
            </a:fld>
            <a:endParaRPr lang="en-US"/>
          </a:p>
        </p:txBody>
      </p:sp>
    </p:spTree>
    <p:extLst>
      <p:ext uri="{BB962C8B-B14F-4D97-AF65-F5344CB8AC3E}">
        <p14:creationId xmlns:p14="http://schemas.microsoft.com/office/powerpoint/2010/main" val="1685650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Notch</a:t>
            </a:r>
            <a:r>
              <a:rPr lang="en-US" baseline="0" dirty="0" smtClean="0"/>
              <a:t> filter, we can see that the ECG signal is cleaner and 60 Hz power noise is erased</a:t>
            </a:r>
            <a:endParaRPr lang="en-US" dirty="0"/>
          </a:p>
        </p:txBody>
      </p:sp>
      <p:sp>
        <p:nvSpPr>
          <p:cNvPr id="4" name="Slide Number Placeholder 3"/>
          <p:cNvSpPr>
            <a:spLocks noGrp="1"/>
          </p:cNvSpPr>
          <p:nvPr>
            <p:ph type="sldNum" sz="quarter" idx="10"/>
          </p:nvPr>
        </p:nvSpPr>
        <p:spPr/>
        <p:txBody>
          <a:bodyPr/>
          <a:lstStyle/>
          <a:p>
            <a:fld id="{FECF83B0-60EB-4F48-8395-AB44C0CA7148}" type="slidenum">
              <a:rPr lang="en-US" smtClean="0"/>
              <a:pPr/>
              <a:t>25</a:t>
            </a:fld>
            <a:endParaRPr lang="en-US"/>
          </a:p>
        </p:txBody>
      </p:sp>
    </p:spTree>
    <p:extLst>
      <p:ext uri="{BB962C8B-B14F-4D97-AF65-F5344CB8AC3E}">
        <p14:creationId xmlns:p14="http://schemas.microsoft.com/office/powerpoint/2010/main" val="37203668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F9341F31-4D48-4932-A2FD-37818543639E}"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pic>
        <p:nvPicPr>
          <p:cNvPr id="11" name="Picture 2" descr="http://campkesem.org/wp-content/themes/kesemtheme/images/logo-msu.jpg"/>
          <p:cNvPicPr>
            <a:picLocks noChangeAspect="1" noChangeArrowheads="1"/>
          </p:cNvPicPr>
          <p:nvPr userDrawn="1"/>
        </p:nvPicPr>
        <p:blipFill>
          <a:blip r:embed="rId2" cstate="print"/>
          <a:srcRect/>
          <a:stretch>
            <a:fillRect/>
          </a:stretch>
        </p:blipFill>
        <p:spPr bwMode="auto">
          <a:xfrm>
            <a:off x="7696200" y="152400"/>
            <a:ext cx="1068947" cy="1390916"/>
          </a:xfrm>
          <a:prstGeom prst="rect">
            <a:avLst/>
          </a:prstGeom>
          <a:noFill/>
        </p:spPr>
      </p:pic>
      <p:pic>
        <p:nvPicPr>
          <p:cNvPr id="12" name="Picture 4" descr="http://www.pa.msu.edu/%7Embp/images/msu_logo.png"/>
          <p:cNvPicPr>
            <a:picLocks noChangeAspect="1" noChangeArrowheads="1"/>
          </p:cNvPicPr>
          <p:nvPr userDrawn="1"/>
        </p:nvPicPr>
        <p:blipFill>
          <a:blip r:embed="rId3" cstate="print"/>
          <a:srcRect/>
          <a:stretch>
            <a:fillRect/>
          </a:stretch>
        </p:blipFill>
        <p:spPr bwMode="auto">
          <a:xfrm>
            <a:off x="7535970" y="1375893"/>
            <a:ext cx="1435240" cy="341871"/>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9341F31-4D48-4932-A2FD-37818543639E}"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F9341F31-4D48-4932-A2FD-37818543639E}"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9341F31-4D48-4932-A2FD-37818543639E}"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9154D9D-4FF3-4858-A3FD-31EF590C98A2}" type="datetimeFigureOut">
              <a:rPr lang="en-US" smtClean="0"/>
              <a:pPr/>
              <a:t>3/29/2013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9341F31-4D48-4932-A2FD-37818543639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9154D9D-4FF3-4858-A3FD-31EF590C98A2}" type="datetimeFigureOut">
              <a:rPr lang="en-US" smtClean="0"/>
              <a:pPr/>
              <a:t>3/29/2013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F9341F31-4D48-4932-A2FD-37818543639E}"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pic>
        <p:nvPicPr>
          <p:cNvPr id="13" name="Picture 2" descr="http://campkesem.org/wp-content/themes/kesemtheme/images/logo-msu.jpg"/>
          <p:cNvPicPr>
            <a:picLocks noChangeAspect="1" noChangeArrowheads="1"/>
          </p:cNvPicPr>
          <p:nvPr userDrawn="1"/>
        </p:nvPicPr>
        <p:blipFill>
          <a:blip r:embed="rId13" cstate="print"/>
          <a:srcRect/>
          <a:stretch>
            <a:fillRect/>
          </a:stretch>
        </p:blipFill>
        <p:spPr bwMode="auto">
          <a:xfrm>
            <a:off x="7696200" y="152400"/>
            <a:ext cx="1068947" cy="1390916"/>
          </a:xfrm>
          <a:prstGeom prst="rect">
            <a:avLst/>
          </a:prstGeom>
          <a:noFill/>
        </p:spPr>
      </p:pic>
      <p:pic>
        <p:nvPicPr>
          <p:cNvPr id="14" name="Picture 4" descr="http://www.pa.msu.edu/%7Embp/images/msu_logo.png"/>
          <p:cNvPicPr>
            <a:picLocks noChangeAspect="1" noChangeArrowheads="1"/>
          </p:cNvPicPr>
          <p:nvPr userDrawn="1"/>
        </p:nvPicPr>
        <p:blipFill>
          <a:blip r:embed="rId14" cstate="print"/>
          <a:srcRect/>
          <a:stretch>
            <a:fillRect/>
          </a:stretch>
        </p:blipFill>
        <p:spPr bwMode="auto">
          <a:xfrm>
            <a:off x="7535970" y="1375893"/>
            <a:ext cx="1435240" cy="341871"/>
          </a:xfrm>
          <a:prstGeom prst="rect">
            <a:avLst/>
          </a:prstGeom>
          <a:noFill/>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1066800"/>
            <a:ext cx="5715000" cy="786384"/>
          </a:xfrm>
        </p:spPr>
        <p:txBody>
          <a:bodyPr>
            <a:noAutofit/>
          </a:bodyPr>
          <a:lstStyle/>
          <a:p>
            <a:pPr algn="ctr"/>
            <a:r>
              <a:rPr lang="en-US" sz="4800" dirty="0" smtClean="0"/>
              <a:t>Filter Design and Applications</a:t>
            </a:r>
            <a:endParaRPr lang="en-US" sz="4800" dirty="0"/>
          </a:p>
        </p:txBody>
      </p:sp>
      <p:sp>
        <p:nvSpPr>
          <p:cNvPr id="3" name="Subtitle 2"/>
          <p:cNvSpPr>
            <a:spLocks noGrp="1"/>
          </p:cNvSpPr>
          <p:nvPr>
            <p:ph type="subTitle" idx="1"/>
          </p:nvPr>
        </p:nvSpPr>
        <p:spPr>
          <a:xfrm>
            <a:off x="990600" y="2057400"/>
            <a:ext cx="8001000" cy="4114800"/>
          </a:xfrm>
        </p:spPr>
        <p:txBody>
          <a:bodyPr>
            <a:normAutofit/>
          </a:bodyPr>
          <a:lstStyle/>
          <a:p>
            <a:pPr algn="ctr"/>
            <a:r>
              <a:rPr lang="en-US" dirty="0" smtClean="0"/>
              <a:t>ECE 480 - Team 3</a:t>
            </a:r>
          </a:p>
          <a:p>
            <a:pPr algn="ctr"/>
            <a:r>
              <a:rPr lang="en-US" sz="2000" b="1" u="sng" dirty="0" smtClean="0"/>
              <a:t>Team Members:</a:t>
            </a:r>
          </a:p>
          <a:p>
            <a:pPr algn="ctr"/>
            <a:r>
              <a:rPr lang="en-US" sz="2000" dirty="0" smtClean="0"/>
              <a:t>Nate </a:t>
            </a:r>
            <a:r>
              <a:rPr lang="en-US" sz="2000" dirty="0" err="1" smtClean="0"/>
              <a:t>Kesto</a:t>
            </a:r>
            <a:endParaRPr lang="en-US" sz="2000" dirty="0" smtClean="0"/>
          </a:p>
          <a:p>
            <a:pPr algn="ctr"/>
            <a:r>
              <a:rPr lang="en-US" sz="2000" dirty="0" smtClean="0"/>
              <a:t>Mike Mock</a:t>
            </a:r>
          </a:p>
          <a:p>
            <a:pPr algn="ctr"/>
            <a:r>
              <a:rPr lang="en-US" sz="2000" dirty="0" smtClean="0"/>
              <a:t>Justin Bohr</a:t>
            </a:r>
          </a:p>
          <a:p>
            <a:pPr algn="ctr"/>
            <a:r>
              <a:rPr lang="en-US" sz="2000" dirty="0" smtClean="0"/>
              <a:t>Yuan Mei</a:t>
            </a:r>
          </a:p>
          <a:p>
            <a:pPr algn="ctr"/>
            <a:r>
              <a:rPr lang="en-US" sz="2000" dirty="0" err="1" smtClean="0"/>
              <a:t>Xie</a:t>
            </a:r>
            <a:r>
              <a:rPr lang="en-US" sz="2000" dirty="0" smtClean="0"/>
              <a:t> He</a:t>
            </a:r>
          </a:p>
          <a:p>
            <a:pPr algn="ctr"/>
            <a:r>
              <a:rPr lang="en-US" sz="2000" dirty="0" err="1" smtClean="0"/>
              <a:t>Chaoli</a:t>
            </a:r>
            <a:r>
              <a:rPr lang="en-US" sz="2000" dirty="0" smtClean="0"/>
              <a:t> </a:t>
            </a:r>
            <a:r>
              <a:rPr lang="en-US" sz="2000" dirty="0" err="1" smtClean="0"/>
              <a:t>Ang</a:t>
            </a:r>
            <a:endParaRPr lang="en-US" sz="2000" dirty="0" smtClean="0"/>
          </a:p>
          <a:p>
            <a:pPr algn="ctr"/>
            <a:endParaRPr lang="en-US" sz="1200" dirty="0" smtClean="0"/>
          </a:p>
          <a:p>
            <a:pPr algn="ct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6873240" y="1752600"/>
            <a:ext cx="2270760" cy="18923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Introduction</a:t>
            </a:r>
          </a:p>
          <a:p>
            <a:r>
              <a:rPr lang="en-US" dirty="0" smtClean="0"/>
              <a:t>Filter Designs</a:t>
            </a:r>
          </a:p>
          <a:p>
            <a:pPr lvl="1"/>
            <a:r>
              <a:rPr lang="en-US" dirty="0" smtClean="0"/>
              <a:t>Low Pass</a:t>
            </a:r>
          </a:p>
          <a:p>
            <a:pPr lvl="1"/>
            <a:r>
              <a:rPr lang="en-US" dirty="0" smtClean="0"/>
              <a:t>High Pass</a:t>
            </a:r>
          </a:p>
          <a:p>
            <a:pPr lvl="1"/>
            <a:r>
              <a:rPr lang="en-US" dirty="0" smtClean="0"/>
              <a:t>Band Width</a:t>
            </a:r>
          </a:p>
          <a:p>
            <a:pPr lvl="1"/>
            <a:r>
              <a:rPr lang="en-US" dirty="0" smtClean="0"/>
              <a:t>Band Pass </a:t>
            </a:r>
          </a:p>
          <a:p>
            <a:pPr lvl="1"/>
            <a:r>
              <a:rPr lang="en-US" dirty="0"/>
              <a:t>Differential </a:t>
            </a:r>
            <a:r>
              <a:rPr lang="en-US" dirty="0" smtClean="0"/>
              <a:t>Filtering</a:t>
            </a:r>
          </a:p>
          <a:p>
            <a:r>
              <a:rPr lang="en-US" dirty="0" smtClean="0"/>
              <a:t>Filter Applications</a:t>
            </a:r>
          </a:p>
          <a:p>
            <a:pPr lvl="1"/>
            <a:r>
              <a:rPr lang="en-US" dirty="0" smtClean="0"/>
              <a:t>Power Filtering</a:t>
            </a:r>
          </a:p>
          <a:p>
            <a:pPr lvl="1"/>
            <a:r>
              <a:rPr lang="en-US" dirty="0" smtClean="0"/>
              <a:t>Audio Application</a:t>
            </a:r>
          </a:p>
          <a:p>
            <a:pPr lvl="1"/>
            <a:r>
              <a:rPr lang="en-US" dirty="0"/>
              <a:t>Band Stop</a:t>
            </a:r>
            <a:endParaRPr lang="en-US" dirty="0" smtClean="0"/>
          </a:p>
          <a:p>
            <a:pPr lvl="1"/>
            <a:r>
              <a:rPr lang="en-US" dirty="0" smtClean="0"/>
              <a:t>ECG Application</a:t>
            </a:r>
          </a:p>
          <a:p>
            <a:pPr>
              <a:buNone/>
            </a:pPr>
            <a:endParaRPr lang="en-US" dirty="0" smtClean="0"/>
          </a:p>
          <a:p>
            <a:endParaRPr lang="en-US" dirty="0" smtClean="0"/>
          </a:p>
          <a:p>
            <a:endParaRPr lang="en-US" dirty="0"/>
          </a:p>
        </p:txBody>
      </p:sp>
      <p:pic>
        <p:nvPicPr>
          <p:cNvPr id="2050" name="Picture 2"/>
          <p:cNvPicPr>
            <a:picLocks noChangeAspect="1" noChangeArrowheads="1"/>
          </p:cNvPicPr>
          <p:nvPr/>
        </p:nvPicPr>
        <p:blipFill>
          <a:blip r:embed="rId3" cstate="print"/>
          <a:srcRect/>
          <a:stretch>
            <a:fillRect/>
          </a:stretch>
        </p:blipFill>
        <p:spPr bwMode="auto">
          <a:xfrm>
            <a:off x="4648200" y="1600200"/>
            <a:ext cx="2209800" cy="19851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Characteristics</a:t>
            </a:r>
          </a:p>
          <a:p>
            <a:pPr lvl="1"/>
            <a:r>
              <a:rPr lang="en-US" dirty="0" smtClean="0"/>
              <a:t>Analog or Digital</a:t>
            </a:r>
          </a:p>
          <a:p>
            <a:pPr lvl="1"/>
            <a:r>
              <a:rPr lang="en-US" dirty="0" smtClean="0"/>
              <a:t>Passive or Active</a:t>
            </a:r>
          </a:p>
          <a:p>
            <a:pPr lvl="1"/>
            <a:r>
              <a:rPr lang="en-US" dirty="0"/>
              <a:t>Linear or </a:t>
            </a:r>
            <a:r>
              <a:rPr lang="en-US" dirty="0" smtClean="0"/>
              <a:t>Non-Linear</a:t>
            </a:r>
          </a:p>
          <a:p>
            <a:r>
              <a:rPr lang="en-US" dirty="0" smtClean="0"/>
              <a:t>Filter Types</a:t>
            </a:r>
          </a:p>
          <a:p>
            <a:pPr lvl="1"/>
            <a:r>
              <a:rPr lang="en-US" dirty="0" smtClean="0"/>
              <a:t>Low Pass</a:t>
            </a:r>
          </a:p>
          <a:p>
            <a:pPr lvl="1"/>
            <a:r>
              <a:rPr lang="en-US" dirty="0" smtClean="0"/>
              <a:t>High Pass</a:t>
            </a:r>
          </a:p>
          <a:p>
            <a:pPr lvl="1"/>
            <a:r>
              <a:rPr lang="en-US" dirty="0" smtClean="0"/>
              <a:t>Band Pass </a:t>
            </a:r>
          </a:p>
          <a:p>
            <a:pPr lvl="1"/>
            <a:r>
              <a:rPr lang="en-US" dirty="0" smtClean="0"/>
              <a:t>Band Stop</a:t>
            </a:r>
          </a:p>
          <a:p>
            <a:pPr lvl="1"/>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Filter </a:t>
            </a:r>
            <a:r>
              <a:rPr lang="en-US" dirty="0" smtClean="0"/>
              <a:t>Designs </a:t>
            </a:r>
            <a:r>
              <a:rPr lang="en-US" dirty="0"/>
              <a:t>– </a:t>
            </a:r>
            <a:r>
              <a:rPr lang="en-US" dirty="0" smtClean="0"/>
              <a:t>Order </a:t>
            </a:r>
            <a:br>
              <a:rPr lang="en-US" dirty="0" smtClean="0"/>
            </a:br>
            <a:r>
              <a:rPr lang="en-US" dirty="0" smtClean="0"/>
              <a:t>and Cutoff Frequency</a:t>
            </a:r>
            <a:endParaRPr lang="en-US" dirty="0"/>
          </a:p>
        </p:txBody>
      </p:sp>
      <p:pic>
        <p:nvPicPr>
          <p:cNvPr id="4" name="Picture 2" descr="f_c = \frac{1}{2 \pi \tau} = \frac{1}{2 \pi R 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7194" y="4514958"/>
            <a:ext cx="2692894" cy="6732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nd order low pass filter bode pl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3999" y="1913600"/>
            <a:ext cx="3352801" cy="220818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idx="1"/>
          </p:nvPr>
        </p:nvSpPr>
        <p:spPr/>
        <p:txBody>
          <a:bodyPr/>
          <a:lstStyle/>
          <a:p>
            <a:r>
              <a:rPr lang="en-US" dirty="0" smtClean="0"/>
              <a:t>Order of filters</a:t>
            </a:r>
          </a:p>
          <a:p>
            <a:pPr lvl="1"/>
            <a:r>
              <a:rPr lang="en-US" sz="2400" dirty="0" smtClean="0"/>
              <a:t>First order</a:t>
            </a:r>
          </a:p>
          <a:p>
            <a:pPr lvl="1"/>
            <a:r>
              <a:rPr lang="en-US" sz="2400" dirty="0" smtClean="0"/>
              <a:t>Second order</a:t>
            </a:r>
          </a:p>
          <a:p>
            <a:pPr lvl="1"/>
            <a:r>
              <a:rPr lang="en-US" sz="2400" dirty="0" smtClean="0"/>
              <a:t>Third and higher order</a:t>
            </a:r>
          </a:p>
          <a:p>
            <a:r>
              <a:rPr lang="en-US" dirty="0" smtClean="0"/>
              <a:t>Cutoff frequency</a:t>
            </a:r>
          </a:p>
        </p:txBody>
      </p:sp>
      <p:pic>
        <p:nvPicPr>
          <p:cNvPr id="2054" name="Picture 6" descr="http://wps.prenhall.com/wps/media/objects/416/426298/17fig3.g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05917" y="3962400"/>
            <a:ext cx="32304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5390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p:cNvPicPr>
            <a:picLocks noChangeAspect="1" noChangeArrowheads="1"/>
          </p:cNvPicPr>
          <p:nvPr/>
        </p:nvPicPr>
        <p:blipFill>
          <a:blip r:embed="rId2" cstate="print"/>
          <a:srcRect/>
          <a:stretch>
            <a:fillRect/>
          </a:stretch>
        </p:blipFill>
        <p:spPr bwMode="auto">
          <a:xfrm>
            <a:off x="1034843" y="3746414"/>
            <a:ext cx="3526800" cy="2032171"/>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Filter Designs – Low Pass</a:t>
            </a:r>
            <a:endParaRPr lang="en-US" dirty="0"/>
          </a:p>
        </p:txBody>
      </p:sp>
      <p:sp>
        <p:nvSpPr>
          <p:cNvPr id="3" name="Content Placeholder 2"/>
          <p:cNvSpPr>
            <a:spLocks noGrp="1"/>
          </p:cNvSpPr>
          <p:nvPr>
            <p:ph idx="1"/>
          </p:nvPr>
        </p:nvSpPr>
        <p:spPr/>
        <p:txBody>
          <a:bodyPr/>
          <a:lstStyle/>
          <a:p>
            <a:r>
              <a:rPr lang="en-US" dirty="0" smtClean="0"/>
              <a:t>Passive</a:t>
            </a:r>
          </a:p>
          <a:p>
            <a:pPr lvl="1"/>
            <a:r>
              <a:rPr lang="en-US" dirty="0" smtClean="0"/>
              <a:t>Transfer function</a:t>
            </a:r>
          </a:p>
          <a:p>
            <a:pPr>
              <a:buNone/>
            </a:pPr>
            <a:endParaRPr lang="en-US" dirty="0" smtClean="0"/>
          </a:p>
          <a:p>
            <a:pPr>
              <a:buNone/>
            </a:pPr>
            <a:r>
              <a:rPr lang="en-US" dirty="0" smtClean="0"/>
              <a:t>	</a:t>
            </a:r>
            <a:endParaRPr lang="en-US" dirty="0"/>
          </a:p>
        </p:txBody>
      </p:sp>
      <p:pic>
        <p:nvPicPr>
          <p:cNvPr id="16388" name="Picture 4"/>
          <p:cNvPicPr>
            <a:picLocks noChangeAspect="1" noChangeArrowheads="1"/>
          </p:cNvPicPr>
          <p:nvPr/>
        </p:nvPicPr>
        <p:blipFill>
          <a:blip r:embed="rId3" cstate="print"/>
          <a:srcRect/>
          <a:stretch>
            <a:fillRect/>
          </a:stretch>
        </p:blipFill>
        <p:spPr bwMode="auto">
          <a:xfrm>
            <a:off x="4588276" y="3962400"/>
            <a:ext cx="4410542" cy="1600200"/>
          </a:xfrm>
          <a:prstGeom prst="rect">
            <a:avLst/>
          </a:prstGeom>
          <a:noFill/>
          <a:ln w="9525">
            <a:noFill/>
            <a:miter lim="800000"/>
            <a:headEnd/>
            <a:tailEnd/>
          </a:ln>
        </p:spPr>
      </p:pic>
      <p:sp>
        <p:nvSpPr>
          <p:cNvPr id="1639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39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Right Arrow 10"/>
          <p:cNvSpPr/>
          <p:nvPr/>
        </p:nvSpPr>
        <p:spPr>
          <a:xfrm>
            <a:off x="4572000" y="2939783"/>
            <a:ext cx="1371600" cy="228600"/>
          </a:xfrm>
          <a:prstGeom prst="rightArrow">
            <a:avLst/>
          </a:prstGeom>
          <a:solidFill>
            <a:schemeClr val="tx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3" name="Picture 9"/>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676401" y="2634244"/>
            <a:ext cx="2192517" cy="718556"/>
          </a:xfrm>
          <a:prstGeom prst="rect">
            <a:avLst/>
          </a:prstGeom>
          <a:noFill/>
        </p:spPr>
      </p:pic>
      <p:sp>
        <p:nvSpPr>
          <p:cNvPr id="1639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6395" name="Picture 1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248400" y="2668788"/>
            <a:ext cx="2508043" cy="684012"/>
          </a:xfrm>
          <a:prstGeom prst="rect">
            <a:avLst/>
          </a:prstGeom>
          <a:noFill/>
        </p:spPr>
      </p:pic>
    </p:spTree>
    <p:extLst>
      <p:ext uri="{BB962C8B-B14F-4D97-AF65-F5344CB8AC3E}">
        <p14:creationId xmlns:p14="http://schemas.microsoft.com/office/powerpoint/2010/main" val="41191855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Active</a:t>
            </a:r>
          </a:p>
          <a:p>
            <a:endParaRPr lang="en-US" dirty="0"/>
          </a:p>
        </p:txBody>
      </p:sp>
      <p:sp>
        <p:nvSpPr>
          <p:cNvPr id="4" name="Title 1"/>
          <p:cNvSpPr>
            <a:spLocks noGrp="1"/>
          </p:cNvSpPr>
          <p:nvPr>
            <p:ph type="title"/>
          </p:nvPr>
        </p:nvSpPr>
        <p:spPr/>
        <p:txBody>
          <a:bodyPr/>
          <a:lstStyle/>
          <a:p>
            <a:r>
              <a:rPr lang="en-US" dirty="0" smtClean="0"/>
              <a:t>Filter Designs – Low Pass</a:t>
            </a:r>
            <a:endParaRPr lang="en-US" dirty="0"/>
          </a:p>
        </p:txBody>
      </p:sp>
      <p:pic>
        <p:nvPicPr>
          <p:cNvPr id="17411" name="Picture 3"/>
          <p:cNvPicPr>
            <a:picLocks noChangeAspect="1" noChangeArrowheads="1"/>
          </p:cNvPicPr>
          <p:nvPr/>
        </p:nvPicPr>
        <p:blipFill>
          <a:blip r:embed="rId2" cstate="print"/>
          <a:srcRect/>
          <a:stretch>
            <a:fillRect/>
          </a:stretch>
        </p:blipFill>
        <p:spPr bwMode="auto">
          <a:xfrm>
            <a:off x="2659200" y="1905000"/>
            <a:ext cx="4229100" cy="1866900"/>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465" y="5105400"/>
            <a:ext cx="5422570" cy="1700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7400" y="3886200"/>
            <a:ext cx="2362200" cy="10360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62400" y="4343400"/>
            <a:ext cx="14017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86400" y="4071950"/>
            <a:ext cx="3364200" cy="83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4803" y="4686300"/>
            <a:ext cx="3225576"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smtClean="0"/>
              <a:t>Filter Designs – High Pass</a:t>
            </a:r>
            <a:endParaRPr lang="en-US" dirty="0"/>
          </a:p>
        </p:txBody>
      </p:sp>
      <p:sp>
        <p:nvSpPr>
          <p:cNvPr id="3" name="Content Placeholder 2"/>
          <p:cNvSpPr>
            <a:spLocks noGrp="1"/>
          </p:cNvSpPr>
          <p:nvPr>
            <p:ph idx="1"/>
          </p:nvPr>
        </p:nvSpPr>
        <p:spPr/>
        <p:txBody>
          <a:bodyPr/>
          <a:lstStyle/>
          <a:p>
            <a:r>
              <a:rPr lang="en-US" dirty="0" smtClean="0"/>
              <a:t>Passive</a:t>
            </a:r>
          </a:p>
          <a:p>
            <a:endParaRPr lang="en-US" dirty="0"/>
          </a:p>
          <a:p>
            <a:endParaRPr lang="en-US" dirty="0" smtClean="0"/>
          </a:p>
          <a:p>
            <a:endParaRPr lang="en-US" dirty="0"/>
          </a:p>
          <a:p>
            <a:endParaRPr lang="en-US" dirty="0"/>
          </a:p>
          <a:p>
            <a:r>
              <a:rPr lang="en-US" dirty="0" smtClean="0"/>
              <a:t>Active</a:t>
            </a:r>
          </a:p>
          <a:p>
            <a:endParaRPr lang="en-US" dirty="0" smtClean="0"/>
          </a:p>
          <a:p>
            <a:pPr marL="82296" indent="0">
              <a:buNone/>
            </a:pPr>
            <a:endParaRPr lang="en-US"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9970" y="1905000"/>
            <a:ext cx="3476057" cy="152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27912" y="2169592"/>
            <a:ext cx="3200400" cy="991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27912" y="3179411"/>
            <a:ext cx="2667000" cy="947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26149" y="3567181"/>
            <a:ext cx="14017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63278" y="3352284"/>
            <a:ext cx="2195831" cy="7281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40571" y="4800600"/>
            <a:ext cx="3375081"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63278" y="5854822"/>
            <a:ext cx="2615956" cy="9382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11034" y="6152428"/>
            <a:ext cx="14017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601902" y="5980145"/>
            <a:ext cx="2695575" cy="731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84058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 Designs – </a:t>
            </a:r>
            <a:r>
              <a:rPr lang="en-US" dirty="0" smtClean="0"/>
              <a:t>Bandwidth</a:t>
            </a:r>
            <a:endParaRPr lang="en-US" dirty="0"/>
          </a:p>
        </p:txBody>
      </p:sp>
      <p:sp>
        <p:nvSpPr>
          <p:cNvPr id="3" name="Content Placeholder 2"/>
          <p:cNvSpPr>
            <a:spLocks noGrp="1"/>
          </p:cNvSpPr>
          <p:nvPr>
            <p:ph idx="1"/>
          </p:nvPr>
        </p:nvSpPr>
        <p:spPr/>
        <p:txBody>
          <a:bodyPr/>
          <a:lstStyle/>
          <a:p>
            <a:r>
              <a:rPr lang="en-US" dirty="0" smtClean="0"/>
              <a:t>Bandwidth</a:t>
            </a:r>
          </a:p>
          <a:p>
            <a:pPr lvl="1"/>
            <a:r>
              <a:rPr lang="en-US" dirty="0" smtClean="0"/>
              <a:t>Cutoff frequency and center frequency</a:t>
            </a:r>
          </a:p>
          <a:p>
            <a:pPr lvl="1"/>
            <a:r>
              <a:rPr lang="en-US" dirty="0" smtClean="0"/>
              <a:t>Q factor</a:t>
            </a:r>
          </a:p>
        </p:txBody>
      </p:sp>
      <p:pic>
        <p:nvPicPr>
          <p:cNvPr id="3074" name="Picture 2" descr="File:Bandwidth 2.sv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971800"/>
            <a:ext cx="5715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7507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0906" y="4495800"/>
            <a:ext cx="3057525" cy="17627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p:txBody>
          <a:bodyPr/>
          <a:lstStyle/>
          <a:p>
            <a:r>
              <a:rPr lang="en-US" dirty="0" smtClean="0"/>
              <a:t>Passive</a:t>
            </a:r>
          </a:p>
          <a:p>
            <a:endParaRPr lang="en-US" dirty="0"/>
          </a:p>
          <a:p>
            <a:endParaRPr lang="en-US" dirty="0" smtClean="0"/>
          </a:p>
          <a:p>
            <a:pPr marL="82296" indent="0">
              <a:buNone/>
            </a:pPr>
            <a:endParaRPr lang="en-US" dirty="0" smtClean="0"/>
          </a:p>
          <a:p>
            <a:pPr marL="82296" indent="0">
              <a:buNone/>
            </a:pPr>
            <a:endParaRPr lang="en-US" dirty="0" smtClean="0"/>
          </a:p>
          <a:p>
            <a:r>
              <a:rPr lang="en-US" dirty="0" smtClean="0"/>
              <a:t>Active</a:t>
            </a:r>
          </a:p>
          <a:p>
            <a:pPr marL="82296" indent="0">
              <a:buNone/>
            </a:pPr>
            <a:endParaRPr lang="en-US" dirty="0" smtClean="0"/>
          </a:p>
        </p:txBody>
      </p:sp>
      <p:sp>
        <p:nvSpPr>
          <p:cNvPr id="4" name="Title 1"/>
          <p:cNvSpPr>
            <a:spLocks noGrp="1"/>
          </p:cNvSpPr>
          <p:nvPr>
            <p:ph type="title"/>
          </p:nvPr>
        </p:nvSpPr>
        <p:spPr/>
        <p:txBody>
          <a:bodyPr/>
          <a:lstStyle/>
          <a:p>
            <a:r>
              <a:rPr lang="en-US" dirty="0"/>
              <a:t>Filter Designs – </a:t>
            </a:r>
            <a:r>
              <a:rPr lang="en-US" dirty="0" smtClean="0"/>
              <a:t>Band </a:t>
            </a:r>
            <a:r>
              <a:rPr lang="en-US" dirty="0"/>
              <a:t>Pass </a:t>
            </a:r>
          </a:p>
        </p:txBody>
      </p:sp>
      <p:pic>
        <p:nvPicPr>
          <p:cNvPr id="205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9504" y="4946195"/>
            <a:ext cx="3810000" cy="1183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0769" y="6129337"/>
            <a:ext cx="3448050" cy="69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89835" y="1949389"/>
            <a:ext cx="3659669" cy="1708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49504" y="2144103"/>
            <a:ext cx="3763392" cy="1090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04750" y="3505200"/>
            <a:ext cx="3571875"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54231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Filter Designs</a:t>
            </a:r>
            <a:r>
              <a:rPr lang="en-US" dirty="0" smtClean="0"/>
              <a:t> – </a:t>
            </a:r>
            <a:r>
              <a:rPr lang="en-US" altLang="zh-CN" dirty="0" smtClean="0"/>
              <a:t>Differential</a:t>
            </a:r>
            <a:endParaRPr lang="en-US" dirty="0"/>
          </a:p>
        </p:txBody>
      </p:sp>
      <p:sp>
        <p:nvSpPr>
          <p:cNvPr id="3" name="内容占位符 2"/>
          <p:cNvSpPr>
            <a:spLocks noGrp="1"/>
          </p:cNvSpPr>
          <p:nvPr>
            <p:ph idx="1"/>
          </p:nvPr>
        </p:nvSpPr>
        <p:spPr/>
        <p:txBody>
          <a:bodyPr>
            <a:normAutofit lnSpcReduction="10000"/>
          </a:bodyPr>
          <a:lstStyle/>
          <a:p>
            <a:r>
              <a:rPr lang="en-US" altLang="zh-CN" dirty="0" smtClean="0"/>
              <a:t>Concepts</a:t>
            </a:r>
            <a:r>
              <a:rPr lang="zh-CN" altLang="en-US" dirty="0" smtClean="0"/>
              <a:t>：</a:t>
            </a:r>
            <a:endParaRPr lang="en-US" altLang="zh-CN" dirty="0" smtClean="0"/>
          </a:p>
          <a:p>
            <a:pPr>
              <a:buNone/>
            </a:pPr>
            <a:r>
              <a:rPr lang="en-US" altLang="zh-CN" dirty="0" smtClean="0"/>
              <a:t>	</a:t>
            </a:r>
            <a:r>
              <a:rPr lang="en-US" altLang="zh-CN" sz="2200" b="1" i="1" dirty="0" smtClean="0"/>
              <a:t>Differential Filter: </a:t>
            </a:r>
            <a:r>
              <a:rPr lang="en-US" altLang="zh-CN" sz="2200" dirty="0" smtClean="0"/>
              <a:t>Any filter with a differential input and a differential output.</a:t>
            </a:r>
          </a:p>
          <a:p>
            <a:pPr>
              <a:buNone/>
            </a:pPr>
            <a:r>
              <a:rPr lang="en-US" altLang="zh-CN" dirty="0" smtClean="0"/>
              <a:t>	</a:t>
            </a:r>
            <a:r>
              <a:rPr lang="en-US" altLang="zh-CN" sz="2000" b="1" i="1" dirty="0" smtClean="0"/>
              <a:t>Single-Ended Signal</a:t>
            </a:r>
            <a:r>
              <a:rPr lang="zh-CN" altLang="en-US" sz="2000" dirty="0" smtClean="0"/>
              <a:t>：</a:t>
            </a:r>
            <a:endParaRPr lang="en-US" altLang="zh-CN" sz="2000" dirty="0" smtClean="0"/>
          </a:p>
          <a:p>
            <a:pPr>
              <a:buNone/>
            </a:pPr>
            <a:r>
              <a:rPr lang="en-US" altLang="zh-CN" sz="2000" dirty="0" smtClean="0"/>
              <a:t>		-One of the signal terminals are grounded.</a:t>
            </a:r>
          </a:p>
          <a:p>
            <a:pPr>
              <a:buNone/>
            </a:pPr>
            <a:r>
              <a:rPr lang="en-US" altLang="zh-CN" dirty="0" smtClean="0"/>
              <a:t>	</a:t>
            </a:r>
            <a:r>
              <a:rPr lang="en-US" altLang="zh-CN" sz="2000" b="1" i="1" dirty="0" smtClean="0"/>
              <a:t>Differential Signal</a:t>
            </a:r>
            <a:r>
              <a:rPr lang="zh-CN" altLang="en-US" sz="2000" dirty="0" smtClean="0"/>
              <a:t>：</a:t>
            </a:r>
            <a:endParaRPr lang="en-US" altLang="zh-CN" sz="2000" dirty="0" smtClean="0"/>
          </a:p>
          <a:p>
            <a:pPr>
              <a:buNone/>
            </a:pPr>
            <a:r>
              <a:rPr lang="en-US" altLang="zh-CN" sz="2000" dirty="0" smtClean="0"/>
              <a:t>		-Neither of the signal terminals are grounded.</a:t>
            </a:r>
            <a:endParaRPr lang="en-US" sz="2400" dirty="0" smtClean="0"/>
          </a:p>
          <a:p>
            <a:r>
              <a:rPr lang="en-US" altLang="zh-CN" dirty="0" smtClean="0"/>
              <a:t>Why do we need it ?</a:t>
            </a:r>
          </a:p>
          <a:p>
            <a:pPr>
              <a:buNone/>
            </a:pPr>
            <a:r>
              <a:rPr lang="en-US" altLang="zh-CN" sz="2800" dirty="0" smtClean="0"/>
              <a:t>	</a:t>
            </a:r>
            <a:r>
              <a:rPr lang="en-US" altLang="zh-CN" sz="2400" dirty="0" smtClean="0"/>
              <a:t> </a:t>
            </a:r>
            <a:r>
              <a:rPr lang="en-US" altLang="zh-CN" sz="2000" dirty="0"/>
              <a:t>C</a:t>
            </a:r>
            <a:r>
              <a:rPr lang="en-US" altLang="zh-CN" sz="2000" dirty="0" smtClean="0"/>
              <a:t>ouple with differential amplifiers.</a:t>
            </a:r>
          </a:p>
          <a:p>
            <a:pPr>
              <a:buNone/>
            </a:pPr>
            <a:r>
              <a:rPr lang="en-US" altLang="zh-CN" sz="2000" dirty="0" smtClean="0"/>
              <a:t>	 	Increase common mode rejection ratio, reduce noise and   	interference.</a:t>
            </a:r>
          </a:p>
          <a:p>
            <a:pPr>
              <a:buNone/>
            </a:pPr>
            <a:endParaRPr lang="en-US" sz="2800" dirty="0"/>
          </a:p>
        </p:txBody>
      </p:sp>
    </p:spTree>
    <p:extLst>
      <p:ext uri="{BB962C8B-B14F-4D97-AF65-F5344CB8AC3E}">
        <p14:creationId xmlns:p14="http://schemas.microsoft.com/office/powerpoint/2010/main" val="2054151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Filter Designs</a:t>
            </a:r>
            <a:r>
              <a:rPr lang="en-US" dirty="0" smtClean="0"/>
              <a:t> – </a:t>
            </a:r>
            <a:r>
              <a:rPr lang="en-US" altLang="zh-CN" dirty="0" smtClean="0"/>
              <a:t>Differential</a:t>
            </a:r>
            <a:endParaRPr lang="en-US" dirty="0"/>
          </a:p>
        </p:txBody>
      </p:sp>
      <p:sp>
        <p:nvSpPr>
          <p:cNvPr id="3" name="内容占位符 2"/>
          <p:cNvSpPr>
            <a:spLocks noGrp="1"/>
          </p:cNvSpPr>
          <p:nvPr>
            <p:ph idx="1"/>
          </p:nvPr>
        </p:nvSpPr>
        <p:spPr>
          <a:xfrm>
            <a:off x="1371600" y="1219200"/>
            <a:ext cx="7498080" cy="4800600"/>
          </a:xfrm>
        </p:spPr>
        <p:txBody>
          <a:bodyPr/>
          <a:lstStyle/>
          <a:p>
            <a:r>
              <a:rPr lang="en-US" altLang="zh-CN" dirty="0" smtClean="0"/>
              <a:t>Passive</a:t>
            </a:r>
          </a:p>
          <a:p>
            <a:pPr>
              <a:buNone/>
            </a:pPr>
            <a:r>
              <a:rPr lang="en-US" altLang="zh-CN" sz="2000" dirty="0" smtClean="0"/>
              <a:t>High-pass			Low-pass</a:t>
            </a:r>
          </a:p>
          <a:p>
            <a:pPr>
              <a:buNone/>
            </a:pPr>
            <a:endParaRPr lang="en-US" altLang="zh-CN" sz="2000" dirty="0" smtClean="0"/>
          </a:p>
          <a:p>
            <a:pPr>
              <a:buNone/>
            </a:pPr>
            <a:endParaRPr lang="en-US" altLang="zh-CN" sz="2000" dirty="0" smtClean="0"/>
          </a:p>
          <a:p>
            <a:pPr>
              <a:buNone/>
            </a:pPr>
            <a:endParaRPr lang="en-US" altLang="zh-CN" sz="2000" dirty="0" smtClean="0"/>
          </a:p>
          <a:p>
            <a:pPr>
              <a:buNone/>
            </a:pPr>
            <a:endParaRPr lang="en-US" altLang="zh-CN" sz="2000" dirty="0" smtClean="0"/>
          </a:p>
          <a:p>
            <a:pPr>
              <a:buNone/>
            </a:pPr>
            <a:endParaRPr lang="en-US" altLang="zh-CN" sz="2000" dirty="0" smtClean="0"/>
          </a:p>
          <a:p>
            <a:r>
              <a:rPr lang="en-US" altLang="zh-CN" dirty="0" smtClean="0"/>
              <a:t>Active</a:t>
            </a:r>
          </a:p>
          <a:p>
            <a:pPr>
              <a:buNone/>
            </a:pPr>
            <a:r>
              <a:rPr lang="en-US" altLang="zh-CN" sz="2000" dirty="0" smtClean="0"/>
              <a:t>High-pass			Low-pass</a:t>
            </a:r>
          </a:p>
          <a:p>
            <a:pPr>
              <a:buNone/>
            </a:pPr>
            <a:endParaRPr lang="en-US" altLang="zh-CN" sz="2000" dirty="0" smtClean="0"/>
          </a:p>
        </p:txBody>
      </p:sp>
      <p:pic>
        <p:nvPicPr>
          <p:cNvPr id="8" name="图片 7" descr="passiveHP.png"/>
          <p:cNvPicPr>
            <a:picLocks noChangeAspect="1"/>
          </p:cNvPicPr>
          <p:nvPr/>
        </p:nvPicPr>
        <p:blipFill>
          <a:blip r:embed="rId2" cstate="print"/>
          <a:stretch>
            <a:fillRect/>
          </a:stretch>
        </p:blipFill>
        <p:spPr>
          <a:xfrm>
            <a:off x="1295400" y="2209800"/>
            <a:ext cx="3761077" cy="1481010"/>
          </a:xfrm>
          <a:prstGeom prst="rect">
            <a:avLst/>
          </a:prstGeom>
        </p:spPr>
      </p:pic>
      <p:pic>
        <p:nvPicPr>
          <p:cNvPr id="9" name="图片 8" descr="passiveLP.png"/>
          <p:cNvPicPr>
            <a:picLocks noChangeAspect="1"/>
          </p:cNvPicPr>
          <p:nvPr/>
        </p:nvPicPr>
        <p:blipFill>
          <a:blip r:embed="rId3" cstate="print"/>
          <a:stretch>
            <a:fillRect/>
          </a:stretch>
        </p:blipFill>
        <p:spPr>
          <a:xfrm>
            <a:off x="5562600" y="2286000"/>
            <a:ext cx="3295057" cy="1561513"/>
          </a:xfrm>
          <a:prstGeom prst="rect">
            <a:avLst/>
          </a:prstGeom>
        </p:spPr>
      </p:pic>
      <p:pic>
        <p:nvPicPr>
          <p:cNvPr id="10" name="图片 9" descr="activeHP.png"/>
          <p:cNvPicPr>
            <a:picLocks noChangeAspect="1"/>
          </p:cNvPicPr>
          <p:nvPr/>
        </p:nvPicPr>
        <p:blipFill>
          <a:blip r:embed="rId4" cstate="print"/>
          <a:stretch>
            <a:fillRect/>
          </a:stretch>
        </p:blipFill>
        <p:spPr>
          <a:xfrm>
            <a:off x="990600" y="5029200"/>
            <a:ext cx="3665682" cy="1828800"/>
          </a:xfrm>
          <a:prstGeom prst="rect">
            <a:avLst/>
          </a:prstGeom>
        </p:spPr>
      </p:pic>
      <p:pic>
        <p:nvPicPr>
          <p:cNvPr id="11" name="图片 10" descr="activeLP.png"/>
          <p:cNvPicPr>
            <a:picLocks noChangeAspect="1"/>
          </p:cNvPicPr>
          <p:nvPr/>
        </p:nvPicPr>
        <p:blipFill>
          <a:blip r:embed="rId5" cstate="print"/>
          <a:stretch>
            <a:fillRect/>
          </a:stretch>
        </p:blipFill>
        <p:spPr>
          <a:xfrm>
            <a:off x="5410199" y="5105400"/>
            <a:ext cx="3266209" cy="1752600"/>
          </a:xfrm>
          <a:prstGeom prst="rect">
            <a:avLst/>
          </a:prstGeom>
        </p:spPr>
      </p:pic>
    </p:spTree>
    <p:extLst>
      <p:ext uri="{BB962C8B-B14F-4D97-AF65-F5344CB8AC3E}">
        <p14:creationId xmlns:p14="http://schemas.microsoft.com/office/powerpoint/2010/main" val="242117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Filter Designs</a:t>
            </a:r>
            <a:r>
              <a:rPr lang="en-US" dirty="0" smtClean="0"/>
              <a:t> – </a:t>
            </a:r>
            <a:r>
              <a:rPr lang="en-US" altLang="zh-CN" dirty="0" smtClean="0"/>
              <a:t>Differential</a:t>
            </a:r>
            <a:endParaRPr lang="en-US" dirty="0"/>
          </a:p>
        </p:txBody>
      </p:sp>
      <p:sp>
        <p:nvSpPr>
          <p:cNvPr id="3" name="内容占位符 2"/>
          <p:cNvSpPr>
            <a:spLocks noGrp="1"/>
          </p:cNvSpPr>
          <p:nvPr>
            <p:ph idx="1"/>
          </p:nvPr>
        </p:nvSpPr>
        <p:spPr/>
        <p:txBody>
          <a:bodyPr>
            <a:normAutofit lnSpcReduction="10000"/>
          </a:bodyPr>
          <a:lstStyle/>
          <a:p>
            <a:r>
              <a:rPr lang="en-US" altLang="zh-CN" dirty="0" smtClean="0"/>
              <a:t>How to design it</a:t>
            </a:r>
            <a:r>
              <a:rPr lang="zh-CN" altLang="en-US" dirty="0" smtClean="0"/>
              <a:t>？</a:t>
            </a:r>
            <a:endParaRPr lang="en-US" altLang="zh-CN" dirty="0" smtClean="0"/>
          </a:p>
          <a:p>
            <a:pPr>
              <a:buNone/>
            </a:pPr>
            <a:r>
              <a:rPr lang="en-US" altLang="zh-CN" dirty="0" smtClean="0"/>
              <a:t>	</a:t>
            </a:r>
            <a:r>
              <a:rPr lang="en-US" altLang="zh-CN" sz="2200" dirty="0" smtClean="0"/>
              <a:t>Single-Ended to Differential-Ended Filter Translation.</a:t>
            </a:r>
            <a:endParaRPr lang="en-US" altLang="zh-CN" sz="2400" dirty="0" smtClean="0"/>
          </a:p>
          <a:p>
            <a:pPr>
              <a:buNone/>
            </a:pPr>
            <a:r>
              <a:rPr lang="en-US" altLang="zh-CN" sz="1900" i="1" dirty="0" smtClean="0"/>
              <a:t>Single-Ended LP Filter</a:t>
            </a:r>
            <a:r>
              <a:rPr lang="en-US" altLang="zh-CN" sz="1900" dirty="0" smtClean="0"/>
              <a:t>			</a:t>
            </a:r>
            <a:r>
              <a:rPr lang="en-US" altLang="zh-CN" sz="1900" i="1" dirty="0" smtClean="0"/>
              <a:t>           Differential LP Filter</a:t>
            </a:r>
          </a:p>
          <a:p>
            <a:pPr>
              <a:buNone/>
            </a:pPr>
            <a:endParaRPr lang="en-US" altLang="zh-CN" sz="2400" dirty="0" smtClean="0"/>
          </a:p>
          <a:p>
            <a:pPr>
              <a:buNone/>
            </a:pPr>
            <a:endParaRPr lang="en-US" altLang="zh-CN" sz="2400" dirty="0" smtClean="0"/>
          </a:p>
          <a:p>
            <a:pPr>
              <a:buNone/>
            </a:pPr>
            <a:endParaRPr lang="en-US" altLang="zh-CN" sz="2400" dirty="0" smtClean="0"/>
          </a:p>
          <a:p>
            <a:pPr>
              <a:buNone/>
            </a:pPr>
            <a:r>
              <a:rPr lang="en-US" altLang="zh-CN" sz="2400" dirty="0" smtClean="0"/>
              <a:t>	</a:t>
            </a:r>
          </a:p>
          <a:p>
            <a:pPr>
              <a:buNone/>
            </a:pPr>
            <a:endParaRPr lang="en-US" altLang="zh-CN" sz="2400" dirty="0" smtClean="0"/>
          </a:p>
          <a:p>
            <a:pPr>
              <a:buNone/>
            </a:pPr>
            <a:r>
              <a:rPr lang="en-US" altLang="zh-CN" sz="2400" dirty="0" smtClean="0"/>
              <a:t>	</a:t>
            </a:r>
          </a:p>
          <a:p>
            <a:pPr>
              <a:buNone/>
            </a:pPr>
            <a:r>
              <a:rPr lang="en-US" altLang="zh-CN" sz="2400" dirty="0" smtClean="0"/>
              <a:t>	</a:t>
            </a:r>
            <a:r>
              <a:rPr lang="en-US" altLang="zh-CN" sz="1200" dirty="0" smtClean="0"/>
              <a:t>*</a:t>
            </a:r>
            <a:r>
              <a:rPr lang="en-US" altLang="zh-CN" sz="1400" dirty="0" smtClean="0"/>
              <a:t>Figures from Texas Instruments Application Report “Design of Differential Filters for High-Speed Signal Chains” by Ken Chan</a:t>
            </a:r>
          </a:p>
          <a:p>
            <a:endParaRPr lang="en-US" altLang="zh-CN" dirty="0" smtClean="0"/>
          </a:p>
        </p:txBody>
      </p:sp>
      <p:pic>
        <p:nvPicPr>
          <p:cNvPr id="4" name="图片 3" descr="QQ截图20130328183928.png"/>
          <p:cNvPicPr>
            <a:picLocks noChangeAspect="1"/>
          </p:cNvPicPr>
          <p:nvPr/>
        </p:nvPicPr>
        <p:blipFill>
          <a:blip r:embed="rId2" cstate="print"/>
          <a:stretch>
            <a:fillRect/>
          </a:stretch>
        </p:blipFill>
        <p:spPr>
          <a:xfrm>
            <a:off x="1059907" y="2819400"/>
            <a:ext cx="8084093" cy="2209800"/>
          </a:xfrm>
          <a:prstGeom prst="rect">
            <a:avLst/>
          </a:prstGeom>
        </p:spPr>
      </p:pic>
      <p:sp>
        <p:nvSpPr>
          <p:cNvPr id="5" name="右箭头 4"/>
          <p:cNvSpPr/>
          <p:nvPr/>
        </p:nvSpPr>
        <p:spPr>
          <a:xfrm>
            <a:off x="3657600" y="38100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右箭头 5"/>
          <p:cNvSpPr/>
          <p:nvPr/>
        </p:nvSpPr>
        <p:spPr>
          <a:xfrm>
            <a:off x="6629400" y="3810000"/>
            <a:ext cx="5334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5103452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Filter Designs</a:t>
            </a:r>
            <a:r>
              <a:rPr lang="en-US" dirty="0" smtClean="0"/>
              <a:t> – </a:t>
            </a:r>
            <a:r>
              <a:rPr lang="en-US" altLang="zh-CN" dirty="0" smtClean="0"/>
              <a:t>Differential</a:t>
            </a:r>
            <a:endParaRPr lang="en-US" dirty="0"/>
          </a:p>
        </p:txBody>
      </p:sp>
      <p:sp>
        <p:nvSpPr>
          <p:cNvPr id="3" name="内容占位符 2"/>
          <p:cNvSpPr>
            <a:spLocks noGrp="1"/>
          </p:cNvSpPr>
          <p:nvPr>
            <p:ph idx="1"/>
          </p:nvPr>
        </p:nvSpPr>
        <p:spPr/>
        <p:txBody>
          <a:bodyPr>
            <a:normAutofit/>
          </a:bodyPr>
          <a:lstStyle/>
          <a:p>
            <a:pPr>
              <a:buNone/>
            </a:pPr>
            <a:r>
              <a:rPr lang="en-US" sz="2400" dirty="0" smtClean="0"/>
              <a:t>	Simulation result of both the Single Ended </a:t>
            </a:r>
          </a:p>
          <a:p>
            <a:pPr>
              <a:buNone/>
            </a:pPr>
            <a:r>
              <a:rPr lang="en-US" sz="2400" dirty="0" smtClean="0"/>
              <a:t>	and Differential filters using TINA-TI</a:t>
            </a:r>
          </a:p>
          <a:p>
            <a:pPr>
              <a:buNone/>
            </a:pPr>
            <a:endParaRPr lang="en-US" sz="2400" dirty="0"/>
          </a:p>
        </p:txBody>
      </p:sp>
      <p:pic>
        <p:nvPicPr>
          <p:cNvPr id="4" name="图片 3" descr="diffFILtina.png"/>
          <p:cNvPicPr>
            <a:picLocks noChangeAspect="1"/>
          </p:cNvPicPr>
          <p:nvPr/>
        </p:nvPicPr>
        <p:blipFill>
          <a:blip r:embed="rId2" cstate="print"/>
          <a:stretch>
            <a:fillRect/>
          </a:stretch>
        </p:blipFill>
        <p:spPr>
          <a:xfrm>
            <a:off x="1905000" y="2438400"/>
            <a:ext cx="5965946" cy="4038600"/>
          </a:xfrm>
          <a:prstGeom prst="rect">
            <a:avLst/>
          </a:prstGeom>
        </p:spPr>
      </p:pic>
    </p:spTree>
    <p:extLst>
      <p:ext uri="{BB962C8B-B14F-4D97-AF65-F5344CB8AC3E}">
        <p14:creationId xmlns:p14="http://schemas.microsoft.com/office/powerpoint/2010/main" val="246549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200400"/>
            <a:ext cx="4221355" cy="188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idx="1"/>
          </p:nvPr>
        </p:nvSpPr>
        <p:spPr/>
        <p:txBody>
          <a:bodyPr/>
          <a:lstStyle/>
          <a:p>
            <a:r>
              <a:rPr lang="en-US" dirty="0" smtClean="0"/>
              <a:t>Buck Converter</a:t>
            </a:r>
          </a:p>
          <a:p>
            <a:r>
              <a:rPr lang="en-US" dirty="0" smtClean="0"/>
              <a:t>Switched-Mode</a:t>
            </a:r>
            <a:endParaRPr lang="en-US" dirty="0"/>
          </a:p>
        </p:txBody>
      </p:sp>
      <p:sp>
        <p:nvSpPr>
          <p:cNvPr id="4" name="Title 3"/>
          <p:cNvSpPr>
            <a:spLocks noGrp="1"/>
          </p:cNvSpPr>
          <p:nvPr>
            <p:ph type="title"/>
          </p:nvPr>
        </p:nvSpPr>
        <p:spPr/>
        <p:txBody>
          <a:bodyPr>
            <a:normAutofit/>
          </a:bodyPr>
          <a:lstStyle/>
          <a:p>
            <a:r>
              <a:rPr lang="en-US" dirty="0"/>
              <a:t>Filter </a:t>
            </a:r>
            <a:r>
              <a:rPr lang="en-US" dirty="0" smtClean="0"/>
              <a:t>Applications </a:t>
            </a:r>
            <a:r>
              <a:rPr lang="en-US" dirty="0"/>
              <a:t>– </a:t>
            </a:r>
            <a:r>
              <a:rPr lang="en-US" dirty="0" smtClean="0"/>
              <a:t>Power </a:t>
            </a:r>
            <a:endParaRPr lang="en-US" dirty="0"/>
          </a:p>
        </p:txBody>
      </p:sp>
      <p:pic>
        <p:nvPicPr>
          <p:cNvPr id="102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2038350"/>
            <a:ext cx="3810000" cy="421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5405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Power Filter</a:t>
            </a:r>
            <a:endParaRPr lang="en-US" dirty="0"/>
          </a:p>
        </p:txBody>
      </p:sp>
      <p:sp>
        <p:nvSpPr>
          <p:cNvPr id="4" name="Title 3"/>
          <p:cNvSpPr>
            <a:spLocks noGrp="1"/>
          </p:cNvSpPr>
          <p:nvPr>
            <p:ph type="title"/>
          </p:nvPr>
        </p:nvSpPr>
        <p:spPr/>
        <p:txBody>
          <a:bodyPr>
            <a:normAutofit/>
          </a:bodyPr>
          <a:lstStyle/>
          <a:p>
            <a:r>
              <a:rPr lang="en-US" dirty="0"/>
              <a:t>Filter </a:t>
            </a:r>
            <a:r>
              <a:rPr lang="en-US" dirty="0" smtClean="0"/>
              <a:t>Applications </a:t>
            </a:r>
            <a:r>
              <a:rPr lang="en-US" dirty="0"/>
              <a:t>– </a:t>
            </a:r>
            <a:r>
              <a:rPr lang="en-US" dirty="0" smtClean="0"/>
              <a:t>Power </a:t>
            </a:r>
            <a:endParaRPr lang="en-US"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6400" y="1981200"/>
            <a:ext cx="7964960"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18434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Tina – TI Simulation</a:t>
            </a:r>
            <a:endParaRPr 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2514600"/>
            <a:ext cx="7952134" cy="37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3"/>
          <p:cNvSpPr>
            <a:spLocks noGrp="1"/>
          </p:cNvSpPr>
          <p:nvPr>
            <p:ph type="title"/>
          </p:nvPr>
        </p:nvSpPr>
        <p:spPr/>
        <p:txBody>
          <a:bodyPr>
            <a:normAutofit/>
          </a:bodyPr>
          <a:lstStyle/>
          <a:p>
            <a:r>
              <a:rPr lang="en-US" dirty="0"/>
              <a:t>Filter </a:t>
            </a:r>
            <a:r>
              <a:rPr lang="en-US" dirty="0" smtClean="0"/>
              <a:t>Applications </a:t>
            </a:r>
            <a:r>
              <a:rPr lang="en-US" dirty="0"/>
              <a:t>– </a:t>
            </a:r>
            <a:r>
              <a:rPr lang="en-US" dirty="0" smtClean="0"/>
              <a:t>Power </a:t>
            </a:r>
            <a:endParaRPr lang="en-US" dirty="0"/>
          </a:p>
        </p:txBody>
      </p:sp>
    </p:spTree>
    <p:extLst>
      <p:ext uri="{BB962C8B-B14F-4D97-AF65-F5344CB8AC3E}">
        <p14:creationId xmlns:p14="http://schemas.microsoft.com/office/powerpoint/2010/main" val="40627593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Filter </a:t>
            </a:r>
            <a:r>
              <a:rPr lang="en-US" dirty="0" smtClean="0"/>
              <a:t>Applications </a:t>
            </a:r>
            <a:r>
              <a:rPr lang="en-US" dirty="0"/>
              <a:t>– </a:t>
            </a:r>
            <a:r>
              <a:rPr lang="en-US" dirty="0" smtClean="0"/>
              <a:t>Power </a:t>
            </a:r>
            <a:endParaRPr lang="en-US" dirty="0"/>
          </a:p>
        </p:txBody>
      </p:sp>
      <p:sp>
        <p:nvSpPr>
          <p:cNvPr id="5" name="AutoShape 2" descr="Inline image 1"/>
          <p:cNvSpPr>
            <a:spLocks noChangeAspect="1" noChangeArrowheads="1"/>
          </p:cNvSpPr>
          <p:nvPr/>
        </p:nvSpPr>
        <p:spPr bwMode="auto">
          <a:xfrm>
            <a:off x="155575" y="-1401763"/>
            <a:ext cx="3914775" cy="2933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nline image 1"/>
          <p:cNvSpPr>
            <a:spLocks noChangeAspect="1" noChangeArrowheads="1"/>
          </p:cNvSpPr>
          <p:nvPr/>
        </p:nvSpPr>
        <p:spPr bwMode="auto">
          <a:xfrm>
            <a:off x="307975" y="-1249363"/>
            <a:ext cx="3914775" cy="2933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Inline image 1"/>
          <p:cNvSpPr>
            <a:spLocks noChangeAspect="1" noChangeArrowheads="1"/>
          </p:cNvSpPr>
          <p:nvPr/>
        </p:nvSpPr>
        <p:spPr bwMode="auto">
          <a:xfrm>
            <a:off x="460375" y="-1096963"/>
            <a:ext cx="3914775" cy="2933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Inline image 1"/>
          <p:cNvSpPr>
            <a:spLocks noChangeAspect="1" noChangeArrowheads="1"/>
          </p:cNvSpPr>
          <p:nvPr/>
        </p:nvSpPr>
        <p:spPr bwMode="auto">
          <a:xfrm>
            <a:off x="612775" y="-944563"/>
            <a:ext cx="3914775" cy="2933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descr="Inline image 1"/>
          <p:cNvSpPr>
            <a:spLocks noChangeAspect="1" noChangeArrowheads="1"/>
          </p:cNvSpPr>
          <p:nvPr/>
        </p:nvSpPr>
        <p:spPr bwMode="auto">
          <a:xfrm>
            <a:off x="765175" y="-792163"/>
            <a:ext cx="3914775" cy="29337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9"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2057400"/>
            <a:ext cx="60960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2"/>
          <p:cNvSpPr>
            <a:spLocks noGrp="1"/>
          </p:cNvSpPr>
          <p:nvPr>
            <p:ph idx="1"/>
          </p:nvPr>
        </p:nvSpPr>
        <p:spPr>
          <a:xfrm>
            <a:off x="1435608" y="1447800"/>
            <a:ext cx="7498080" cy="4800600"/>
          </a:xfrm>
        </p:spPr>
        <p:txBody>
          <a:bodyPr/>
          <a:lstStyle/>
          <a:p>
            <a:r>
              <a:rPr lang="en-US" dirty="0" smtClean="0"/>
              <a:t>Results</a:t>
            </a:r>
            <a:endParaRPr lang="en-US" dirty="0"/>
          </a:p>
        </p:txBody>
      </p:sp>
    </p:spTree>
    <p:extLst>
      <p:ext uri="{BB962C8B-B14F-4D97-AF65-F5344CB8AC3E}">
        <p14:creationId xmlns:p14="http://schemas.microsoft.com/office/powerpoint/2010/main" val="18582058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Applications </a:t>
            </a:r>
            <a:r>
              <a:rPr lang="en-US" dirty="0"/>
              <a:t>– </a:t>
            </a:r>
            <a:r>
              <a:rPr lang="en-US" dirty="0" smtClean="0"/>
              <a:t>Audio </a:t>
            </a:r>
            <a:endParaRPr lang="en-US" dirty="0"/>
          </a:p>
        </p:txBody>
      </p:sp>
      <p:sp>
        <p:nvSpPr>
          <p:cNvPr id="3" name="Content Placeholder 2"/>
          <p:cNvSpPr>
            <a:spLocks noGrp="1"/>
          </p:cNvSpPr>
          <p:nvPr>
            <p:ph idx="1"/>
          </p:nvPr>
        </p:nvSpPr>
        <p:spPr>
          <a:xfrm>
            <a:off x="1435608" y="1447800"/>
            <a:ext cx="7498080" cy="5397956"/>
          </a:xfrm>
        </p:spPr>
        <p:txBody>
          <a:bodyPr>
            <a:normAutofit fontScale="85000" lnSpcReduction="20000"/>
          </a:bodyPr>
          <a:lstStyle/>
          <a:p>
            <a:r>
              <a:rPr lang="en-US" dirty="0" smtClean="0"/>
              <a:t>3-way Speaker Crossover</a:t>
            </a:r>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endParaRPr lang="en-US" dirty="0" smtClean="0"/>
          </a:p>
          <a:p>
            <a:endParaRPr lang="en-US" dirty="0" smtClean="0"/>
          </a:p>
          <a:p>
            <a:r>
              <a:rPr lang="en-US" dirty="0" smtClean="0"/>
              <a:t>Subwoofers (20 - 80Hz)</a:t>
            </a:r>
          </a:p>
          <a:p>
            <a:r>
              <a:rPr lang="en-US" dirty="0" smtClean="0"/>
              <a:t>Midrange (80Hz - 2kHz)</a:t>
            </a:r>
          </a:p>
          <a:p>
            <a:r>
              <a:rPr lang="en-US" dirty="0" smtClean="0"/>
              <a:t>Tweeter (2 - 20kHz)</a:t>
            </a:r>
            <a:endParaRPr lang="en-US" dirty="0"/>
          </a:p>
        </p:txBody>
      </p:sp>
      <p:pic>
        <p:nvPicPr>
          <p:cNvPr id="1028" name="Picture 4" descr="http://static.bhphoto.com/images/images500x500/40726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095500"/>
            <a:ext cx="27432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www.waldonell.com/workspace/uploads/bw_crossover-bod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197100"/>
            <a:ext cx="3282633" cy="25146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Rectangle 3"/>
          <p:cNvSpPr/>
          <p:nvPr/>
        </p:nvSpPr>
        <p:spPr>
          <a:xfrm>
            <a:off x="5067299" y="6630312"/>
            <a:ext cx="4076701" cy="215444"/>
          </a:xfrm>
          <a:prstGeom prst="rect">
            <a:avLst/>
          </a:prstGeom>
        </p:spPr>
        <p:txBody>
          <a:bodyPr wrap="square">
            <a:spAutoFit/>
          </a:bodyPr>
          <a:lstStyle/>
          <a:p>
            <a:r>
              <a:rPr lang="en-US" sz="800" dirty="0"/>
              <a:t>http://www.waldonell.com/thoughts/sticky-articles/designing-a-100w-3-way-speaker-system/</a:t>
            </a:r>
          </a:p>
        </p:txBody>
      </p:sp>
      <p:sp>
        <p:nvSpPr>
          <p:cNvPr id="5" name="TextBox 4"/>
          <p:cNvSpPr txBox="1"/>
          <p:nvPr/>
        </p:nvSpPr>
        <p:spPr>
          <a:xfrm>
            <a:off x="5791200" y="4711700"/>
            <a:ext cx="3276600" cy="369332"/>
          </a:xfrm>
          <a:prstGeom prst="rect">
            <a:avLst/>
          </a:prstGeom>
          <a:noFill/>
        </p:spPr>
        <p:txBody>
          <a:bodyPr wrap="square" rtlCol="0">
            <a:spAutoFit/>
          </a:bodyPr>
          <a:lstStyle/>
          <a:p>
            <a:r>
              <a:rPr lang="en-US" dirty="0" smtClean="0"/>
              <a:t>Bode Plot for 3-way Crossover</a:t>
            </a:r>
            <a:endParaRPr lang="en-US" dirty="0"/>
          </a:p>
        </p:txBody>
      </p:sp>
      <p:sp>
        <p:nvSpPr>
          <p:cNvPr id="10" name="TextBox 9"/>
          <p:cNvSpPr txBox="1"/>
          <p:nvPr/>
        </p:nvSpPr>
        <p:spPr>
          <a:xfrm>
            <a:off x="1943100" y="4724400"/>
            <a:ext cx="3276600" cy="369332"/>
          </a:xfrm>
          <a:prstGeom prst="rect">
            <a:avLst/>
          </a:prstGeom>
          <a:noFill/>
        </p:spPr>
        <p:txBody>
          <a:bodyPr wrap="square" rtlCol="0">
            <a:spAutoFit/>
          </a:bodyPr>
          <a:lstStyle/>
          <a:p>
            <a:r>
              <a:rPr lang="en-US" dirty="0" smtClean="0"/>
              <a:t>Commercial 3-Way Speaker Pair</a:t>
            </a:r>
            <a:endParaRPr lang="en-US" dirty="0"/>
          </a:p>
        </p:txBody>
      </p:sp>
    </p:spTree>
    <p:extLst>
      <p:ext uri="{BB962C8B-B14F-4D97-AF65-F5344CB8AC3E}">
        <p14:creationId xmlns:p14="http://schemas.microsoft.com/office/powerpoint/2010/main" val="1483962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5638800" y="2321004"/>
            <a:ext cx="3258589" cy="1831896"/>
            <a:chOff x="5638800" y="2146300"/>
            <a:chExt cx="3258589" cy="1831896"/>
          </a:xfrm>
        </p:grpSpPr>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2146300"/>
              <a:ext cx="3258589" cy="162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853289" y="3608864"/>
              <a:ext cx="2980806" cy="369332"/>
            </a:xfrm>
            <a:prstGeom prst="rect">
              <a:avLst/>
            </a:prstGeom>
            <a:noFill/>
          </p:spPr>
          <p:txBody>
            <a:bodyPr wrap="square" rtlCol="0">
              <a:spAutoFit/>
            </a:bodyPr>
            <a:lstStyle/>
            <a:p>
              <a:r>
                <a:rPr lang="en-US" dirty="0" smtClean="0"/>
                <a:t>Speaker Equivalent Circuit</a:t>
              </a:r>
              <a:endParaRPr lang="en-US" dirty="0"/>
            </a:p>
          </p:txBody>
        </p:sp>
      </p:grpSp>
      <p:sp>
        <p:nvSpPr>
          <p:cNvPr id="2" name="Title 1"/>
          <p:cNvSpPr>
            <a:spLocks noGrp="1"/>
          </p:cNvSpPr>
          <p:nvPr>
            <p:ph type="title"/>
          </p:nvPr>
        </p:nvSpPr>
        <p:spPr/>
        <p:txBody>
          <a:bodyPr/>
          <a:lstStyle/>
          <a:p>
            <a:r>
              <a:rPr lang="en-US" dirty="0" smtClean="0"/>
              <a:t>Filter Applications </a:t>
            </a:r>
            <a:r>
              <a:rPr lang="en-US" dirty="0"/>
              <a:t>– </a:t>
            </a:r>
            <a:r>
              <a:rPr lang="en-US" dirty="0" smtClean="0"/>
              <a:t>Audio </a:t>
            </a:r>
            <a:endParaRPr lang="en-US" dirty="0"/>
          </a:p>
        </p:txBody>
      </p:sp>
      <p:sp>
        <p:nvSpPr>
          <p:cNvPr id="3" name="Content Placeholder 2"/>
          <p:cNvSpPr>
            <a:spLocks noGrp="1"/>
          </p:cNvSpPr>
          <p:nvPr>
            <p:ph idx="1"/>
          </p:nvPr>
        </p:nvSpPr>
        <p:spPr>
          <a:xfrm>
            <a:off x="1435608" y="1447800"/>
            <a:ext cx="7498080" cy="5105400"/>
          </a:xfrm>
        </p:spPr>
        <p:txBody>
          <a:bodyPr>
            <a:normAutofit/>
          </a:bodyPr>
          <a:lstStyle/>
          <a:p>
            <a:r>
              <a:rPr lang="en-US" dirty="0" smtClean="0"/>
              <a:t>Speaker Impedance vs. Frequency</a:t>
            </a:r>
          </a:p>
          <a:p>
            <a:endParaRPr lang="en-US" dirty="0"/>
          </a:p>
          <a:p>
            <a:endParaRPr lang="en-US" dirty="0" smtClean="0"/>
          </a:p>
          <a:p>
            <a:endParaRPr lang="en-US" dirty="0"/>
          </a:p>
          <a:p>
            <a:pPr marL="82296" indent="0">
              <a:buNone/>
            </a:pPr>
            <a:endParaRPr lang="en-US" dirty="0" smtClean="0"/>
          </a:p>
          <a:p>
            <a:r>
              <a:rPr lang="en-US" dirty="0" smtClean="0"/>
              <a:t>Design Goal:</a:t>
            </a:r>
          </a:p>
          <a:p>
            <a:pPr lvl="1"/>
            <a:r>
              <a:rPr lang="en-US" dirty="0" smtClean="0"/>
              <a:t>Match speaker’s natural frequency response with crossover</a:t>
            </a:r>
          </a:p>
          <a:p>
            <a:pPr lvl="1"/>
            <a:r>
              <a:rPr lang="en-US" dirty="0" smtClean="0"/>
              <a:t>Maintain appropriate power distribution</a:t>
            </a:r>
          </a:p>
          <a:p>
            <a:pPr marL="82296" indent="0">
              <a:buNone/>
            </a:pPr>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953" y="2120900"/>
            <a:ext cx="4081721" cy="203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7515028" y="6582202"/>
            <a:ext cx="1628972" cy="215444"/>
          </a:xfrm>
          <a:prstGeom prst="rect">
            <a:avLst/>
          </a:prstGeom>
        </p:spPr>
        <p:txBody>
          <a:bodyPr wrap="none">
            <a:spAutoFit/>
          </a:bodyPr>
          <a:lstStyle/>
          <a:p>
            <a:r>
              <a:rPr lang="en-US" sz="800" dirty="0"/>
              <a:t>http://sound.westhost.com/tsp.htm</a:t>
            </a:r>
          </a:p>
        </p:txBody>
      </p:sp>
      <p:sp>
        <p:nvSpPr>
          <p:cNvPr id="7" name="Rectangle 6"/>
          <p:cNvSpPr/>
          <p:nvPr/>
        </p:nvSpPr>
        <p:spPr>
          <a:xfrm>
            <a:off x="7122293" y="6386782"/>
            <a:ext cx="2021707" cy="215444"/>
          </a:xfrm>
          <a:prstGeom prst="rect">
            <a:avLst/>
          </a:prstGeom>
        </p:spPr>
        <p:txBody>
          <a:bodyPr wrap="none">
            <a:spAutoFit/>
          </a:bodyPr>
          <a:lstStyle/>
          <a:p>
            <a:r>
              <a:rPr lang="en-US" sz="800" dirty="0"/>
              <a:t>http://fmarvasti.com/Graphics/Impedance.jpg</a:t>
            </a:r>
          </a:p>
        </p:txBody>
      </p:sp>
    </p:spTree>
    <p:extLst>
      <p:ext uri="{BB962C8B-B14F-4D97-AF65-F5344CB8AC3E}">
        <p14:creationId xmlns:p14="http://schemas.microsoft.com/office/powerpoint/2010/main" val="124989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Applications </a:t>
            </a:r>
            <a:r>
              <a:rPr lang="en-US"/>
              <a:t>– </a:t>
            </a:r>
            <a:r>
              <a:rPr lang="en-US" smtClean="0"/>
              <a:t>Audio </a:t>
            </a:r>
            <a:endParaRPr lang="en-US" dirty="0"/>
          </a:p>
        </p:txBody>
      </p:sp>
      <p:sp>
        <p:nvSpPr>
          <p:cNvPr id="3" name="Content Placeholder 2"/>
          <p:cNvSpPr>
            <a:spLocks noGrp="1"/>
          </p:cNvSpPr>
          <p:nvPr>
            <p:ph idx="1"/>
          </p:nvPr>
        </p:nvSpPr>
        <p:spPr/>
        <p:txBody>
          <a:bodyPr/>
          <a:lstStyle/>
          <a:p>
            <a:r>
              <a:rPr lang="en-US" dirty="0" smtClean="0"/>
              <a:t>Speaker Crossover Schematic</a:t>
            </a:r>
          </a:p>
          <a:p>
            <a:r>
              <a:rPr lang="en-US" dirty="0" smtClean="0"/>
              <a:t>Passive Elements (RLC Networks)</a:t>
            </a:r>
          </a:p>
          <a:p>
            <a:pPr marL="82296" indent="0">
              <a:buNone/>
            </a:pPr>
            <a:endParaRPr lang="en-US" dirty="0" smtClean="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4950" y="2590800"/>
            <a:ext cx="634365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598234" y="6583437"/>
            <a:ext cx="2533066" cy="261610"/>
          </a:xfrm>
          <a:prstGeom prst="rect">
            <a:avLst/>
          </a:prstGeom>
        </p:spPr>
        <p:txBody>
          <a:bodyPr wrap="none">
            <a:spAutoFit/>
          </a:bodyPr>
          <a:lstStyle/>
          <a:p>
            <a:r>
              <a:rPr lang="en-US" sz="1100" dirty="0"/>
              <a:t>http://www.trueaudio.com/st_xov_1.htm</a:t>
            </a:r>
          </a:p>
        </p:txBody>
      </p:sp>
      <p:pic>
        <p:nvPicPr>
          <p:cNvPr id="8" name="Picture 6" descr="http://i2.photobucket.com/albums/y7/lotsofcables/Pro%20Audio/1501LOCM.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1049" y="2819400"/>
            <a:ext cx="2558602" cy="1585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559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 Designs – Band </a:t>
            </a:r>
            <a:r>
              <a:rPr lang="en-US" dirty="0" smtClean="0"/>
              <a:t>Stop </a:t>
            </a:r>
            <a:endParaRPr lang="en-US" dirty="0"/>
          </a:p>
        </p:txBody>
      </p:sp>
      <p:sp>
        <p:nvSpPr>
          <p:cNvPr id="3" name="Content Placeholder 2"/>
          <p:cNvSpPr>
            <a:spLocks noGrp="1"/>
          </p:cNvSpPr>
          <p:nvPr>
            <p:ph idx="1"/>
          </p:nvPr>
        </p:nvSpPr>
        <p:spPr/>
        <p:txBody>
          <a:bodyPr/>
          <a:lstStyle/>
          <a:p>
            <a:pPr marL="82296" indent="0">
              <a:buNone/>
            </a:pPr>
            <a:endParaRPr lang="en-US" dirty="0"/>
          </a:p>
          <a:p>
            <a:r>
              <a:rPr lang="en-US" dirty="0" smtClean="0"/>
              <a:t>Background</a:t>
            </a:r>
          </a:p>
          <a:p>
            <a:endParaRPr lang="en-US" dirty="0" smtClean="0"/>
          </a:p>
          <a:p>
            <a:r>
              <a:rPr lang="en-US" dirty="0"/>
              <a:t>Analog </a:t>
            </a:r>
            <a:r>
              <a:rPr lang="en-US" dirty="0" smtClean="0"/>
              <a:t>design</a:t>
            </a:r>
          </a:p>
          <a:p>
            <a:pPr marL="82296" indent="0">
              <a:buNone/>
            </a:pPr>
            <a:endParaRPr lang="en-US" dirty="0" smtClean="0"/>
          </a:p>
          <a:p>
            <a:r>
              <a:rPr lang="en-US" dirty="0" smtClean="0"/>
              <a:t>Digital design</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811" y="1447401"/>
            <a:ext cx="2574524" cy="1065567"/>
          </a:xfrm>
          <a:prstGeom prst="round2DiagRect">
            <a:avLst>
              <a:gd name="adj1" fmla="val 16667"/>
              <a:gd name="adj2" fmla="val 5000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3362" y="2819400"/>
            <a:ext cx="3263838" cy="1513664"/>
          </a:xfrm>
          <a:prstGeom prst="round2DiagRect">
            <a:avLst>
              <a:gd name="adj1" fmla="val 16667"/>
              <a:gd name="adj2" fmla="val 17009"/>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7048" y="4657817"/>
            <a:ext cx="2609850" cy="1819275"/>
          </a:xfrm>
          <a:prstGeom prst="round2DiagRect">
            <a:avLst>
              <a:gd name="adj1" fmla="val 16667"/>
              <a:gd name="adj2" fmla="val 29279"/>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22415202"/>
      </p:ext>
    </p:extLst>
  </p:cSld>
  <p:clrMapOvr>
    <a:masterClrMapping/>
  </p:clrMapOvr>
  <mc:AlternateContent xmlns:mc="http://schemas.openxmlformats.org/markup-compatibility/2006" xmlns:p14="http://schemas.microsoft.com/office/powerpoint/2010/main">
    <mc:Choice Requires="p14">
      <p:transition spd="slow" p14:dur="2000" advTm="177314"/>
    </mc:Choice>
    <mc:Fallback xmlns="">
      <p:transition xmlns:p14="http://schemas.microsoft.com/office/powerpoint/2010/main" spd="slow" advTm="177314"/>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6793992" cy="563562"/>
          </a:xfrm>
        </p:spPr>
        <p:txBody>
          <a:bodyPr>
            <a:normAutofit fontScale="90000"/>
          </a:bodyPr>
          <a:lstStyle/>
          <a:p>
            <a:r>
              <a:rPr lang="en-US" dirty="0"/>
              <a:t>Filter </a:t>
            </a:r>
            <a:r>
              <a:rPr lang="en-US" dirty="0" smtClean="0"/>
              <a:t>Applications – Band Stop </a:t>
            </a:r>
            <a:endParaRPr lang="en-US" dirty="0"/>
          </a:p>
        </p:txBody>
      </p:sp>
      <p:sp>
        <p:nvSpPr>
          <p:cNvPr id="3" name="Content Placeholder 2"/>
          <p:cNvSpPr>
            <a:spLocks noGrp="1"/>
          </p:cNvSpPr>
          <p:nvPr>
            <p:ph idx="1"/>
          </p:nvPr>
        </p:nvSpPr>
        <p:spPr/>
        <p:txBody>
          <a:bodyPr/>
          <a:lstStyle/>
          <a:p>
            <a:pPr marL="82296" indent="0">
              <a:buNone/>
            </a:pPr>
            <a:endParaRPr lang="en-US" dirty="0" smtClean="0"/>
          </a:p>
          <a:p>
            <a:pPr marL="82296" indent="0">
              <a:buNone/>
            </a:pPr>
            <a:endParaRPr lang="en-US"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1600" y="1524000"/>
            <a:ext cx="7239000" cy="2173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19400" y="3876800"/>
            <a:ext cx="3505200" cy="2617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66202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Notch Filter by Matlab</a:t>
            </a:r>
          </a:p>
          <a:p>
            <a:pPr marL="82296" indent="0">
              <a:buNone/>
            </a:pPr>
            <a:endParaRPr lang="en-US" dirty="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14513" y="2062402"/>
            <a:ext cx="4698017" cy="4643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txBox="1">
            <a:spLocks/>
          </p:cNvSpPr>
          <p:nvPr/>
        </p:nvSpPr>
        <p:spPr>
          <a:xfrm>
            <a:off x="1435608" y="274638"/>
            <a:ext cx="6793992" cy="563562"/>
          </a:xfrm>
          <a:prstGeom prst="rect">
            <a:avLst/>
          </a:prstGeom>
        </p:spPr>
        <p:txBody>
          <a:bodyPr anchor="ctr">
            <a:normAutofit fontScale="8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3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rPr>
              <a:t>Filter Applications – Band Stop </a:t>
            </a:r>
            <a:endParaRPr kumimoji="0" lang="en-US" sz="4300" b="0" i="0" u="none" strike="noStrike" kern="1200" cap="none" spc="0" normalizeH="0" baseline="0" noProof="0" dirty="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endParaRPr>
          </a:p>
        </p:txBody>
      </p:sp>
    </p:spTree>
    <p:extLst>
      <p:ext uri="{BB962C8B-B14F-4D97-AF65-F5344CB8AC3E}">
        <p14:creationId xmlns:p14="http://schemas.microsoft.com/office/powerpoint/2010/main" val="38354056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82296" indent="0">
              <a:buNone/>
            </a:pPr>
            <a:r>
              <a:rPr lang="en-US" dirty="0" smtClean="0"/>
              <a:t>Plot of the Notch Filter</a:t>
            </a:r>
            <a:endParaRPr 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0" y="1981200"/>
            <a:ext cx="53340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1435608" y="274638"/>
            <a:ext cx="6793992" cy="563562"/>
          </a:xfrm>
        </p:spPr>
        <p:txBody>
          <a:bodyPr>
            <a:normAutofit fontScale="90000"/>
          </a:bodyPr>
          <a:lstStyle/>
          <a:p>
            <a:r>
              <a:rPr lang="en-US" dirty="0"/>
              <a:t>Filter </a:t>
            </a:r>
            <a:r>
              <a:rPr lang="en-US" dirty="0" smtClean="0"/>
              <a:t>Applications – Band Stop </a:t>
            </a:r>
            <a:endParaRPr lang="en-US" dirty="0"/>
          </a:p>
        </p:txBody>
      </p:sp>
    </p:spTree>
    <p:extLst>
      <p:ext uri="{BB962C8B-B14F-4D97-AF65-F5344CB8AC3E}">
        <p14:creationId xmlns:p14="http://schemas.microsoft.com/office/powerpoint/2010/main" val="40934345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82296" indent="0">
              <a:buNone/>
            </a:pPr>
            <a:endParaRPr lang="en-US"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9800" y="1524000"/>
            <a:ext cx="4533900" cy="2447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1200" y="4006420"/>
            <a:ext cx="5257800" cy="196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a:xfrm>
            <a:off x="1435608" y="274638"/>
            <a:ext cx="6793992" cy="563562"/>
          </a:xfrm>
        </p:spPr>
        <p:txBody>
          <a:bodyPr>
            <a:normAutofit fontScale="90000"/>
          </a:bodyPr>
          <a:lstStyle/>
          <a:p>
            <a:r>
              <a:rPr lang="en-US" dirty="0"/>
              <a:t>Filter </a:t>
            </a:r>
            <a:r>
              <a:rPr lang="en-US" dirty="0" smtClean="0"/>
              <a:t>Applications – Band Stop </a:t>
            </a:r>
            <a:endParaRPr lang="en-US" dirty="0"/>
          </a:p>
        </p:txBody>
      </p:sp>
    </p:spTree>
    <p:extLst>
      <p:ext uri="{BB962C8B-B14F-4D97-AF65-F5344CB8AC3E}">
        <p14:creationId xmlns:p14="http://schemas.microsoft.com/office/powerpoint/2010/main" val="11281862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Applications – ECG</a:t>
            </a:r>
            <a:endParaRPr lang="en-US" dirty="0"/>
          </a:p>
        </p:txBody>
      </p:sp>
      <p:sp>
        <p:nvSpPr>
          <p:cNvPr id="4" name="Rectangle 3"/>
          <p:cNvSpPr/>
          <p:nvPr/>
        </p:nvSpPr>
        <p:spPr>
          <a:xfrm>
            <a:off x="1524000" y="3733800"/>
            <a:ext cx="12954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5" name="Picture 4" descr="C:\Users\Chaoli\Documents\ECE\480\presentation\cardiosi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8300" y="3886200"/>
            <a:ext cx="1028700" cy="70726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3449782" y="3577936"/>
            <a:ext cx="2286000" cy="1219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TextBox 6"/>
          <p:cNvSpPr txBox="1"/>
          <p:nvPr/>
        </p:nvSpPr>
        <p:spPr>
          <a:xfrm>
            <a:off x="3983182" y="3958936"/>
            <a:ext cx="1219200" cy="381000"/>
          </a:xfrm>
          <a:prstGeom prst="rect">
            <a:avLst/>
          </a:prstGeom>
          <a:noFill/>
        </p:spPr>
        <p:txBody>
          <a:bodyPr wrap="square" rtlCol="0">
            <a:spAutoFit/>
          </a:bodyPr>
          <a:lstStyle/>
          <a:p>
            <a:pPr algn="ctr"/>
            <a:r>
              <a:rPr lang="en-US" b="1" dirty="0" smtClean="0"/>
              <a:t>AFE</a:t>
            </a:r>
            <a:endParaRPr lang="en-US" b="1" dirty="0"/>
          </a:p>
        </p:txBody>
      </p:sp>
      <p:sp>
        <p:nvSpPr>
          <p:cNvPr id="8" name="Freeform 7"/>
          <p:cNvSpPr/>
          <p:nvPr/>
        </p:nvSpPr>
        <p:spPr>
          <a:xfrm>
            <a:off x="3429000" y="2286000"/>
            <a:ext cx="2410691" cy="869371"/>
          </a:xfrm>
          <a:custGeom>
            <a:avLst/>
            <a:gdLst>
              <a:gd name="connsiteX0" fmla="*/ 0 w 2410691"/>
              <a:gd name="connsiteY0" fmla="*/ 916708 h 916708"/>
              <a:gd name="connsiteX1" fmla="*/ 540327 w 2410691"/>
              <a:gd name="connsiteY1" fmla="*/ 210127 h 916708"/>
              <a:gd name="connsiteX2" fmla="*/ 1773382 w 2410691"/>
              <a:gd name="connsiteY2" fmla="*/ 113145 h 916708"/>
              <a:gd name="connsiteX3" fmla="*/ 2410691 w 2410691"/>
              <a:gd name="connsiteY3" fmla="*/ 888999 h 916708"/>
              <a:gd name="connsiteX0" fmla="*/ 0 w 2410691"/>
              <a:gd name="connsiteY0" fmla="*/ 931717 h 931717"/>
              <a:gd name="connsiteX1" fmla="*/ 554182 w 2410691"/>
              <a:gd name="connsiteY1" fmla="*/ 135081 h 931717"/>
              <a:gd name="connsiteX2" fmla="*/ 1773382 w 2410691"/>
              <a:gd name="connsiteY2" fmla="*/ 128154 h 931717"/>
              <a:gd name="connsiteX3" fmla="*/ 2410691 w 2410691"/>
              <a:gd name="connsiteY3" fmla="*/ 904008 h 931717"/>
              <a:gd name="connsiteX0" fmla="*/ 0 w 2410691"/>
              <a:gd name="connsiteY0" fmla="*/ 930563 h 930563"/>
              <a:gd name="connsiteX1" fmla="*/ 554182 w 2410691"/>
              <a:gd name="connsiteY1" fmla="*/ 133927 h 930563"/>
              <a:gd name="connsiteX2" fmla="*/ 1773382 w 2410691"/>
              <a:gd name="connsiteY2" fmla="*/ 127000 h 930563"/>
              <a:gd name="connsiteX3" fmla="*/ 2410691 w 2410691"/>
              <a:gd name="connsiteY3" fmla="*/ 902854 h 930563"/>
              <a:gd name="connsiteX0" fmla="*/ 0 w 2410691"/>
              <a:gd name="connsiteY0" fmla="*/ 868218 h 868218"/>
              <a:gd name="connsiteX1" fmla="*/ 554182 w 2410691"/>
              <a:gd name="connsiteY1" fmla="*/ 71582 h 868218"/>
              <a:gd name="connsiteX2" fmla="*/ 1773382 w 2410691"/>
              <a:gd name="connsiteY2" fmla="*/ 64655 h 868218"/>
              <a:gd name="connsiteX3" fmla="*/ 2410691 w 2410691"/>
              <a:gd name="connsiteY3" fmla="*/ 840509 h 868218"/>
              <a:gd name="connsiteX0" fmla="*/ 0 w 2410691"/>
              <a:gd name="connsiteY0" fmla="*/ 868218 h 868218"/>
              <a:gd name="connsiteX1" fmla="*/ 554182 w 2410691"/>
              <a:gd name="connsiteY1" fmla="*/ 71582 h 868218"/>
              <a:gd name="connsiteX2" fmla="*/ 1773382 w 2410691"/>
              <a:gd name="connsiteY2" fmla="*/ 71582 h 868218"/>
              <a:gd name="connsiteX3" fmla="*/ 2410691 w 2410691"/>
              <a:gd name="connsiteY3" fmla="*/ 840509 h 868218"/>
              <a:gd name="connsiteX0" fmla="*/ 0 w 2410691"/>
              <a:gd name="connsiteY0" fmla="*/ 868218 h 868218"/>
              <a:gd name="connsiteX1" fmla="*/ 554182 w 2410691"/>
              <a:gd name="connsiteY1" fmla="*/ 71582 h 868218"/>
              <a:gd name="connsiteX2" fmla="*/ 1773382 w 2410691"/>
              <a:gd name="connsiteY2" fmla="*/ 71582 h 868218"/>
              <a:gd name="connsiteX3" fmla="*/ 2410691 w 2410691"/>
              <a:gd name="connsiteY3" fmla="*/ 840509 h 868218"/>
              <a:gd name="connsiteX0" fmla="*/ 0 w 2410691"/>
              <a:gd name="connsiteY0" fmla="*/ 869371 h 869371"/>
              <a:gd name="connsiteX1" fmla="*/ 554182 w 2410691"/>
              <a:gd name="connsiteY1" fmla="*/ 72735 h 869371"/>
              <a:gd name="connsiteX2" fmla="*/ 1773382 w 2410691"/>
              <a:gd name="connsiteY2" fmla="*/ 72735 h 869371"/>
              <a:gd name="connsiteX3" fmla="*/ 2410691 w 2410691"/>
              <a:gd name="connsiteY3" fmla="*/ 841662 h 869371"/>
              <a:gd name="connsiteX0" fmla="*/ 0 w 2410691"/>
              <a:gd name="connsiteY0" fmla="*/ 869371 h 869371"/>
              <a:gd name="connsiteX1" fmla="*/ 554182 w 2410691"/>
              <a:gd name="connsiteY1" fmla="*/ 72735 h 869371"/>
              <a:gd name="connsiteX2" fmla="*/ 1773382 w 2410691"/>
              <a:gd name="connsiteY2" fmla="*/ 72735 h 869371"/>
              <a:gd name="connsiteX3" fmla="*/ 2410691 w 2410691"/>
              <a:gd name="connsiteY3" fmla="*/ 841662 h 869371"/>
            </a:gdLst>
            <a:ahLst/>
            <a:cxnLst>
              <a:cxn ang="0">
                <a:pos x="connsiteX0" y="connsiteY0"/>
              </a:cxn>
              <a:cxn ang="0">
                <a:pos x="connsiteX1" y="connsiteY1"/>
              </a:cxn>
              <a:cxn ang="0">
                <a:pos x="connsiteX2" y="connsiteY2"/>
              </a:cxn>
              <a:cxn ang="0">
                <a:pos x="connsiteX3" y="connsiteY3"/>
              </a:cxn>
            </a:cxnLst>
            <a:rect l="l" t="t" r="r" b="b"/>
            <a:pathLst>
              <a:path w="2410691" h="869371">
                <a:moveTo>
                  <a:pt x="0" y="869371"/>
                </a:moveTo>
                <a:cubicBezTo>
                  <a:pt x="122381" y="583044"/>
                  <a:pt x="258618" y="206662"/>
                  <a:pt x="554182" y="72735"/>
                </a:cubicBezTo>
                <a:cubicBezTo>
                  <a:pt x="884382" y="1153"/>
                  <a:pt x="1470891" y="0"/>
                  <a:pt x="1773382" y="72735"/>
                </a:cubicBezTo>
                <a:cubicBezTo>
                  <a:pt x="2082800" y="200889"/>
                  <a:pt x="2340120" y="738475"/>
                  <a:pt x="2410691" y="841662"/>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cxnSp>
        <p:nvCxnSpPr>
          <p:cNvPr id="9" name="Straight Connector 8"/>
          <p:cNvCxnSpPr/>
          <p:nvPr/>
        </p:nvCxnSpPr>
        <p:spPr>
          <a:xfrm>
            <a:off x="3352800" y="2209800"/>
            <a:ext cx="0" cy="99060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V="1">
            <a:off x="3352800" y="3196936"/>
            <a:ext cx="2535382" cy="3464"/>
          </a:xfrm>
          <a:prstGeom prst="line">
            <a:avLst/>
          </a:prstGeom>
        </p:spPr>
        <p:style>
          <a:lnRef idx="2">
            <a:schemeClr val="dk1"/>
          </a:lnRef>
          <a:fillRef idx="0">
            <a:schemeClr val="dk1"/>
          </a:fillRef>
          <a:effectRef idx="1">
            <a:schemeClr val="dk1"/>
          </a:effectRef>
          <a:fontRef idx="minor">
            <a:schemeClr val="tx1"/>
          </a:fontRef>
        </p:style>
      </p:cxnSp>
      <p:sp>
        <p:nvSpPr>
          <p:cNvPr id="13" name="Rectangle 12"/>
          <p:cNvSpPr/>
          <p:nvPr/>
        </p:nvSpPr>
        <p:spPr>
          <a:xfrm>
            <a:off x="6477000" y="3733800"/>
            <a:ext cx="16002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TextBox 13"/>
          <p:cNvSpPr txBox="1"/>
          <p:nvPr/>
        </p:nvSpPr>
        <p:spPr>
          <a:xfrm>
            <a:off x="6477000" y="3810000"/>
            <a:ext cx="1600200" cy="646331"/>
          </a:xfrm>
          <a:prstGeom prst="rect">
            <a:avLst/>
          </a:prstGeom>
          <a:noFill/>
        </p:spPr>
        <p:txBody>
          <a:bodyPr wrap="square" rtlCol="0">
            <a:spAutoFit/>
          </a:bodyPr>
          <a:lstStyle/>
          <a:p>
            <a:pPr algn="ctr"/>
            <a:r>
              <a:rPr lang="en-US" b="1" dirty="0" smtClean="0"/>
              <a:t>Stellaris Oscilloscope</a:t>
            </a:r>
            <a:endParaRPr lang="en-US" b="1" dirty="0"/>
          </a:p>
        </p:txBody>
      </p:sp>
      <p:cxnSp>
        <p:nvCxnSpPr>
          <p:cNvPr id="15" name="Straight Arrow Connector 14"/>
          <p:cNvCxnSpPr>
            <a:stCxn id="4" idx="3"/>
            <a:endCxn id="6" idx="1"/>
          </p:cNvCxnSpPr>
          <p:nvPr/>
        </p:nvCxnSpPr>
        <p:spPr>
          <a:xfrm flipV="1">
            <a:off x="2819400" y="4187536"/>
            <a:ext cx="630382" cy="346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6" idx="3"/>
            <a:endCxn id="13" idx="1"/>
          </p:cNvCxnSpPr>
          <p:nvPr/>
        </p:nvCxnSpPr>
        <p:spPr>
          <a:xfrm>
            <a:off x="5735782" y="4187536"/>
            <a:ext cx="741218" cy="346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3962400" y="1752600"/>
            <a:ext cx="1099981" cy="369332"/>
          </a:xfrm>
          <a:prstGeom prst="rect">
            <a:avLst/>
          </a:prstGeom>
          <a:noFill/>
        </p:spPr>
        <p:txBody>
          <a:bodyPr wrap="none" rtlCol="0">
            <a:spAutoFit/>
          </a:bodyPr>
          <a:lstStyle/>
          <a:p>
            <a:r>
              <a:rPr lang="en-US" dirty="0" smtClean="0"/>
              <a:t>Band Pass</a:t>
            </a:r>
            <a:endParaRPr lang="en-US" dirty="0"/>
          </a:p>
        </p:txBody>
      </p:sp>
      <p:sp>
        <p:nvSpPr>
          <p:cNvPr id="39" name="TextBox 38"/>
          <p:cNvSpPr txBox="1"/>
          <p:nvPr/>
        </p:nvSpPr>
        <p:spPr>
          <a:xfrm>
            <a:off x="1981200" y="2590800"/>
            <a:ext cx="1077539" cy="369332"/>
          </a:xfrm>
          <a:prstGeom prst="rect">
            <a:avLst/>
          </a:prstGeom>
          <a:noFill/>
        </p:spPr>
        <p:txBody>
          <a:bodyPr wrap="none" rtlCol="0">
            <a:spAutoFit/>
          </a:bodyPr>
          <a:lstStyle/>
          <a:p>
            <a:r>
              <a:rPr lang="en-US" dirty="0" smtClean="0"/>
              <a:t>f</a:t>
            </a:r>
            <a:r>
              <a:rPr lang="en-US" baseline="-25000" dirty="0" smtClean="0"/>
              <a:t>0</a:t>
            </a:r>
            <a:r>
              <a:rPr lang="en-US" dirty="0" smtClean="0"/>
              <a:t> = .7 Hz</a:t>
            </a:r>
            <a:endParaRPr lang="en-US" dirty="0"/>
          </a:p>
        </p:txBody>
      </p:sp>
      <p:sp>
        <p:nvSpPr>
          <p:cNvPr id="40" name="TextBox 39"/>
          <p:cNvSpPr txBox="1"/>
          <p:nvPr/>
        </p:nvSpPr>
        <p:spPr>
          <a:xfrm>
            <a:off x="6096000" y="2590800"/>
            <a:ext cx="1141659" cy="369332"/>
          </a:xfrm>
          <a:prstGeom prst="rect">
            <a:avLst/>
          </a:prstGeom>
          <a:noFill/>
        </p:spPr>
        <p:txBody>
          <a:bodyPr wrap="none" rtlCol="0">
            <a:spAutoFit/>
          </a:bodyPr>
          <a:lstStyle/>
          <a:p>
            <a:r>
              <a:rPr lang="en-US" dirty="0" smtClean="0"/>
              <a:t>f</a:t>
            </a:r>
            <a:r>
              <a:rPr lang="en-US" baseline="-25000" dirty="0" smtClean="0"/>
              <a:t>1</a:t>
            </a:r>
            <a:r>
              <a:rPr lang="en-US" dirty="0" smtClean="0"/>
              <a:t> = 50 Hz</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 Applications – ECG</a:t>
            </a:r>
            <a:endParaRPr lang="en-US" dirty="0"/>
          </a:p>
        </p:txBody>
      </p:sp>
      <p:sp>
        <p:nvSpPr>
          <p:cNvPr id="4" name="Rectangle 3"/>
          <p:cNvSpPr/>
          <p:nvPr/>
        </p:nvSpPr>
        <p:spPr>
          <a:xfrm>
            <a:off x="1828800" y="3657600"/>
            <a:ext cx="12192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b="1" dirty="0"/>
          </a:p>
        </p:txBody>
      </p:sp>
      <p:sp>
        <p:nvSpPr>
          <p:cNvPr id="5" name="Rectangle 4"/>
          <p:cNvSpPr/>
          <p:nvPr/>
        </p:nvSpPr>
        <p:spPr>
          <a:xfrm>
            <a:off x="3733800" y="3657600"/>
            <a:ext cx="11430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p:cNvSpPr/>
          <p:nvPr/>
        </p:nvSpPr>
        <p:spPr>
          <a:xfrm>
            <a:off x="3810000" y="2667000"/>
            <a:ext cx="990600" cy="6096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p:cNvSpPr/>
          <p:nvPr/>
        </p:nvSpPr>
        <p:spPr>
          <a:xfrm>
            <a:off x="5562600" y="3657600"/>
            <a:ext cx="12192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2057400" y="4953000"/>
            <a:ext cx="9906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p:cNvSpPr/>
          <p:nvPr/>
        </p:nvSpPr>
        <p:spPr>
          <a:xfrm>
            <a:off x="7391400" y="3657600"/>
            <a:ext cx="16002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p:cNvSpPr/>
          <p:nvPr/>
        </p:nvSpPr>
        <p:spPr>
          <a:xfrm>
            <a:off x="228600" y="3657600"/>
            <a:ext cx="1295400" cy="9144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3" name="Shape 12"/>
          <p:cNvCxnSpPr>
            <a:stCxn id="5" idx="2"/>
            <a:endCxn id="10" idx="3"/>
          </p:cNvCxnSpPr>
          <p:nvPr/>
        </p:nvCxnSpPr>
        <p:spPr>
          <a:xfrm rot="5400000">
            <a:off x="3257550" y="4362450"/>
            <a:ext cx="838200" cy="125730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4" name="Shape 13"/>
          <p:cNvCxnSpPr>
            <a:stCxn id="10" idx="1"/>
            <a:endCxn id="12" idx="2"/>
          </p:cNvCxnSpPr>
          <p:nvPr/>
        </p:nvCxnSpPr>
        <p:spPr>
          <a:xfrm rot="10800000">
            <a:off x="876300" y="4572000"/>
            <a:ext cx="1181100" cy="83820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5" name="Shape 14"/>
          <p:cNvCxnSpPr>
            <a:endCxn id="6" idx="3"/>
          </p:cNvCxnSpPr>
          <p:nvPr/>
        </p:nvCxnSpPr>
        <p:spPr>
          <a:xfrm rot="16200000" flipV="1">
            <a:off x="4419600" y="3352800"/>
            <a:ext cx="1143000" cy="38100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stCxn id="5" idx="3"/>
            <a:endCxn id="7" idx="1"/>
          </p:cNvCxnSpPr>
          <p:nvPr/>
        </p:nvCxnSpPr>
        <p:spPr>
          <a:xfrm>
            <a:off x="4876800" y="4114800"/>
            <a:ext cx="6858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a:stCxn id="12" idx="3"/>
            <a:endCxn id="4" idx="1"/>
          </p:cNvCxnSpPr>
          <p:nvPr/>
        </p:nvCxnSpPr>
        <p:spPr>
          <a:xfrm>
            <a:off x="1524000" y="4114800"/>
            <a:ext cx="3048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p:cNvCxnSpPr>
            <a:stCxn id="4" idx="3"/>
            <a:endCxn id="5" idx="1"/>
          </p:cNvCxnSpPr>
          <p:nvPr/>
        </p:nvCxnSpPr>
        <p:spPr>
          <a:xfrm>
            <a:off x="3048000" y="4114800"/>
            <a:ext cx="6858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7" idx="3"/>
            <a:endCxn id="11" idx="1"/>
          </p:cNvCxnSpPr>
          <p:nvPr/>
        </p:nvCxnSpPr>
        <p:spPr>
          <a:xfrm>
            <a:off x="6781800" y="4114800"/>
            <a:ext cx="6096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a:stCxn id="6" idx="2"/>
            <a:endCxn id="5" idx="0"/>
          </p:cNvCxnSpPr>
          <p:nvPr/>
        </p:nvCxnSpPr>
        <p:spPr>
          <a:xfrm>
            <a:off x="4305300" y="3276600"/>
            <a:ext cx="0" cy="3810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1" name="TextBox 30"/>
          <p:cNvSpPr txBox="1"/>
          <p:nvPr/>
        </p:nvSpPr>
        <p:spPr>
          <a:xfrm>
            <a:off x="3733800" y="3810000"/>
            <a:ext cx="1219200" cy="381000"/>
          </a:xfrm>
          <a:prstGeom prst="rect">
            <a:avLst/>
          </a:prstGeom>
          <a:noFill/>
        </p:spPr>
        <p:txBody>
          <a:bodyPr wrap="square" rtlCol="0">
            <a:spAutoFit/>
          </a:bodyPr>
          <a:lstStyle/>
          <a:p>
            <a:pPr algn="ctr"/>
            <a:r>
              <a:rPr lang="en-US" b="1" dirty="0" smtClean="0"/>
              <a:t>INA333</a:t>
            </a:r>
            <a:endParaRPr lang="en-US" b="1" dirty="0"/>
          </a:p>
        </p:txBody>
      </p:sp>
      <p:sp>
        <p:nvSpPr>
          <p:cNvPr id="32" name="TextBox 31"/>
          <p:cNvSpPr txBox="1"/>
          <p:nvPr/>
        </p:nvSpPr>
        <p:spPr>
          <a:xfrm>
            <a:off x="1828800" y="3810000"/>
            <a:ext cx="1524000" cy="369332"/>
          </a:xfrm>
          <a:prstGeom prst="rect">
            <a:avLst/>
          </a:prstGeom>
          <a:noFill/>
        </p:spPr>
        <p:txBody>
          <a:bodyPr wrap="square" rtlCol="0">
            <a:spAutoFit/>
          </a:bodyPr>
          <a:lstStyle/>
          <a:p>
            <a:r>
              <a:rPr lang="en-US" b="1" dirty="0" smtClean="0"/>
              <a:t>Input Filtering</a:t>
            </a:r>
            <a:endParaRPr lang="en-US" b="1" dirty="0"/>
          </a:p>
        </p:txBody>
      </p:sp>
      <p:sp>
        <p:nvSpPr>
          <p:cNvPr id="33" name="TextBox 32"/>
          <p:cNvSpPr txBox="1"/>
          <p:nvPr/>
        </p:nvSpPr>
        <p:spPr>
          <a:xfrm>
            <a:off x="5486400" y="3810000"/>
            <a:ext cx="1447800" cy="369332"/>
          </a:xfrm>
          <a:prstGeom prst="rect">
            <a:avLst/>
          </a:prstGeom>
          <a:noFill/>
        </p:spPr>
        <p:txBody>
          <a:bodyPr wrap="square" rtlCol="0">
            <a:spAutoFit/>
          </a:bodyPr>
          <a:lstStyle/>
          <a:p>
            <a:pPr algn="ctr"/>
            <a:r>
              <a:rPr lang="en-US" b="1" dirty="0" smtClean="0"/>
              <a:t>Post Filtering</a:t>
            </a:r>
            <a:endParaRPr lang="en-US" b="1" dirty="0"/>
          </a:p>
        </p:txBody>
      </p:sp>
      <p:sp>
        <p:nvSpPr>
          <p:cNvPr id="34" name="TextBox 33"/>
          <p:cNvSpPr txBox="1"/>
          <p:nvPr/>
        </p:nvSpPr>
        <p:spPr>
          <a:xfrm>
            <a:off x="7391400" y="3733800"/>
            <a:ext cx="1524000" cy="646331"/>
          </a:xfrm>
          <a:prstGeom prst="rect">
            <a:avLst/>
          </a:prstGeom>
          <a:noFill/>
        </p:spPr>
        <p:txBody>
          <a:bodyPr wrap="square" rtlCol="0">
            <a:spAutoFit/>
          </a:bodyPr>
          <a:lstStyle/>
          <a:p>
            <a:pPr algn="ctr"/>
            <a:r>
              <a:rPr lang="en-US" b="1" dirty="0" smtClean="0"/>
              <a:t>Stellaris Oscilloscope</a:t>
            </a:r>
            <a:endParaRPr lang="en-US" b="1" dirty="0"/>
          </a:p>
        </p:txBody>
      </p:sp>
      <p:sp>
        <p:nvSpPr>
          <p:cNvPr id="35" name="TextBox 34"/>
          <p:cNvSpPr txBox="1"/>
          <p:nvPr/>
        </p:nvSpPr>
        <p:spPr>
          <a:xfrm>
            <a:off x="3886200" y="2590800"/>
            <a:ext cx="990600" cy="646331"/>
          </a:xfrm>
          <a:prstGeom prst="rect">
            <a:avLst/>
          </a:prstGeom>
          <a:noFill/>
        </p:spPr>
        <p:txBody>
          <a:bodyPr wrap="square" rtlCol="0">
            <a:spAutoFit/>
          </a:bodyPr>
          <a:lstStyle/>
          <a:p>
            <a:r>
              <a:rPr lang="en-US" b="1" dirty="0" smtClean="0"/>
              <a:t>Servo Loop</a:t>
            </a:r>
            <a:endParaRPr lang="en-US" b="1" dirty="0"/>
          </a:p>
        </p:txBody>
      </p:sp>
      <p:sp>
        <p:nvSpPr>
          <p:cNvPr id="36" name="TextBox 35"/>
          <p:cNvSpPr txBox="1"/>
          <p:nvPr/>
        </p:nvSpPr>
        <p:spPr>
          <a:xfrm>
            <a:off x="2133600" y="5181600"/>
            <a:ext cx="838200" cy="381000"/>
          </a:xfrm>
          <a:prstGeom prst="rect">
            <a:avLst/>
          </a:prstGeom>
          <a:noFill/>
        </p:spPr>
        <p:txBody>
          <a:bodyPr wrap="square" rtlCol="0">
            <a:spAutoFit/>
          </a:bodyPr>
          <a:lstStyle/>
          <a:p>
            <a:pPr algn="ctr"/>
            <a:r>
              <a:rPr lang="en-US" b="1" dirty="0" smtClean="0"/>
              <a:t>RLD</a:t>
            </a:r>
            <a:endParaRPr lang="en-US" b="1" dirty="0"/>
          </a:p>
        </p:txBody>
      </p:sp>
      <p:pic>
        <p:nvPicPr>
          <p:cNvPr id="37" name="Picture 4" descr="C:\Users\Chaoli\Documents\ECE\480\presentation\cardiosi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 y="3810000"/>
            <a:ext cx="1028700" cy="70726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8" name="TextBox 37"/>
          <p:cNvSpPr txBox="1"/>
          <p:nvPr/>
        </p:nvSpPr>
        <p:spPr>
          <a:xfrm>
            <a:off x="381000" y="4267200"/>
            <a:ext cx="1016000" cy="261610"/>
          </a:xfrm>
          <a:prstGeom prst="rect">
            <a:avLst/>
          </a:prstGeom>
          <a:noFill/>
        </p:spPr>
        <p:txBody>
          <a:bodyPr wrap="square" rtlCol="0">
            <a:spAutoFit/>
          </a:bodyPr>
          <a:lstStyle/>
          <a:p>
            <a:r>
              <a:rPr lang="en-US" sz="1100" b="1" dirty="0" err="1" smtClean="0"/>
              <a:t>CardioSim</a:t>
            </a:r>
            <a:r>
              <a:rPr lang="en-US" sz="1100" b="1" dirty="0" smtClean="0"/>
              <a:t> II</a:t>
            </a:r>
            <a:endParaRPr lang="en-US" sz="1100" b="1" dirty="0"/>
          </a:p>
        </p:txBody>
      </p:sp>
      <p:cxnSp>
        <p:nvCxnSpPr>
          <p:cNvPr id="44" name="Straight Connector 43"/>
          <p:cNvCxnSpPr/>
          <p:nvPr/>
        </p:nvCxnSpPr>
        <p:spPr>
          <a:xfrm>
            <a:off x="1752600" y="2514600"/>
            <a:ext cx="0" cy="83820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p:cNvCxnSpPr/>
          <p:nvPr/>
        </p:nvCxnSpPr>
        <p:spPr>
          <a:xfrm>
            <a:off x="1752600" y="3352800"/>
            <a:ext cx="1676400" cy="0"/>
          </a:xfrm>
          <a:prstGeom prst="line">
            <a:avLst/>
          </a:prstGeom>
        </p:spPr>
        <p:style>
          <a:lnRef idx="2">
            <a:schemeClr val="dk1"/>
          </a:lnRef>
          <a:fillRef idx="0">
            <a:schemeClr val="dk1"/>
          </a:fillRef>
          <a:effectRef idx="1">
            <a:schemeClr val="dk1"/>
          </a:effectRef>
          <a:fontRef idx="minor">
            <a:schemeClr val="tx1"/>
          </a:fontRef>
        </p:style>
      </p:cxnSp>
      <p:sp>
        <p:nvSpPr>
          <p:cNvPr id="50" name="Freeform 49"/>
          <p:cNvSpPr/>
          <p:nvPr/>
        </p:nvSpPr>
        <p:spPr>
          <a:xfrm>
            <a:off x="1752600" y="2590800"/>
            <a:ext cx="1524000" cy="685800"/>
          </a:xfrm>
          <a:custGeom>
            <a:avLst/>
            <a:gdLst>
              <a:gd name="connsiteX0" fmla="*/ 0 w 2092036"/>
              <a:gd name="connsiteY0" fmla="*/ 39255 h 1106055"/>
              <a:gd name="connsiteX1" fmla="*/ 1288473 w 2092036"/>
              <a:gd name="connsiteY1" fmla="*/ 177800 h 1106055"/>
              <a:gd name="connsiteX2" fmla="*/ 2092036 w 2092036"/>
              <a:gd name="connsiteY2" fmla="*/ 1106055 h 1106055"/>
              <a:gd name="connsiteX0" fmla="*/ 0 w 2092036"/>
              <a:gd name="connsiteY0" fmla="*/ 39255 h 1106055"/>
              <a:gd name="connsiteX1" fmla="*/ 1323109 w 2092036"/>
              <a:gd name="connsiteY1" fmla="*/ 177800 h 1106055"/>
              <a:gd name="connsiteX2" fmla="*/ 2092036 w 2092036"/>
              <a:gd name="connsiteY2" fmla="*/ 1106055 h 1106055"/>
              <a:gd name="connsiteX0" fmla="*/ 0 w 2092036"/>
              <a:gd name="connsiteY0" fmla="*/ 163946 h 1230746"/>
              <a:gd name="connsiteX1" fmla="*/ 1323109 w 2092036"/>
              <a:gd name="connsiteY1" fmla="*/ 302491 h 1230746"/>
              <a:gd name="connsiteX2" fmla="*/ 2092036 w 2092036"/>
              <a:gd name="connsiteY2" fmla="*/ 1230746 h 1230746"/>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129310 h 1196110"/>
              <a:gd name="connsiteX1" fmla="*/ 1246909 w 2092036"/>
              <a:gd name="connsiteY1" fmla="*/ 191655 h 1196110"/>
              <a:gd name="connsiteX2" fmla="*/ 2092036 w 2092036"/>
              <a:gd name="connsiteY2" fmla="*/ 1196110 h 1196110"/>
              <a:gd name="connsiteX0" fmla="*/ 0 w 2092036"/>
              <a:gd name="connsiteY0" fmla="*/ 53110 h 1119910"/>
              <a:gd name="connsiteX1" fmla="*/ 1246909 w 2092036"/>
              <a:gd name="connsiteY1" fmla="*/ 191655 h 1119910"/>
              <a:gd name="connsiteX2" fmla="*/ 2092036 w 2092036"/>
              <a:gd name="connsiteY2" fmla="*/ 1119910 h 1119910"/>
              <a:gd name="connsiteX0" fmla="*/ 0 w 2092036"/>
              <a:gd name="connsiteY0" fmla="*/ 53110 h 1119910"/>
              <a:gd name="connsiteX1" fmla="*/ 1246909 w 2092036"/>
              <a:gd name="connsiteY1" fmla="*/ 191655 h 1119910"/>
              <a:gd name="connsiteX2" fmla="*/ 2092036 w 2092036"/>
              <a:gd name="connsiteY2" fmla="*/ 1119910 h 1119910"/>
            </a:gdLst>
            <a:ahLst/>
            <a:cxnLst>
              <a:cxn ang="0">
                <a:pos x="connsiteX0" y="connsiteY0"/>
              </a:cxn>
              <a:cxn ang="0">
                <a:pos x="connsiteX1" y="connsiteY1"/>
              </a:cxn>
              <a:cxn ang="0">
                <a:pos x="connsiteX2" y="connsiteY2"/>
              </a:cxn>
            </a:cxnLst>
            <a:rect l="l" t="t" r="r" b="b"/>
            <a:pathLst>
              <a:path w="2092036" h="1119910">
                <a:moveTo>
                  <a:pt x="0" y="53110"/>
                </a:moveTo>
                <a:cubicBezTo>
                  <a:pt x="469900" y="33482"/>
                  <a:pt x="939799" y="0"/>
                  <a:pt x="1246909" y="191655"/>
                </a:cubicBezTo>
                <a:cubicBezTo>
                  <a:pt x="1567873" y="438728"/>
                  <a:pt x="1951182" y="960583"/>
                  <a:pt x="2092036" y="111991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cxnSp>
        <p:nvCxnSpPr>
          <p:cNvPr id="92" name="Straight Connector 91"/>
          <p:cNvCxnSpPr/>
          <p:nvPr/>
        </p:nvCxnSpPr>
        <p:spPr>
          <a:xfrm>
            <a:off x="3581400" y="1600200"/>
            <a:ext cx="0" cy="838200"/>
          </a:xfrm>
          <a:prstGeom prst="line">
            <a:avLst/>
          </a:prstGeom>
        </p:spPr>
        <p:style>
          <a:lnRef idx="2">
            <a:schemeClr val="dk1"/>
          </a:lnRef>
          <a:fillRef idx="0">
            <a:schemeClr val="dk1"/>
          </a:fillRef>
          <a:effectRef idx="1">
            <a:schemeClr val="dk1"/>
          </a:effectRef>
          <a:fontRef idx="minor">
            <a:schemeClr val="tx1"/>
          </a:fontRef>
        </p:style>
      </p:cxnSp>
      <p:cxnSp>
        <p:nvCxnSpPr>
          <p:cNvPr id="93" name="Straight Connector 92"/>
          <p:cNvCxnSpPr/>
          <p:nvPr/>
        </p:nvCxnSpPr>
        <p:spPr>
          <a:xfrm>
            <a:off x="3581400" y="2438400"/>
            <a:ext cx="1676400" cy="0"/>
          </a:xfrm>
          <a:prstGeom prst="line">
            <a:avLst/>
          </a:prstGeom>
        </p:spPr>
        <p:style>
          <a:lnRef idx="2">
            <a:schemeClr val="dk1"/>
          </a:lnRef>
          <a:fillRef idx="0">
            <a:schemeClr val="dk1"/>
          </a:fillRef>
          <a:effectRef idx="1">
            <a:schemeClr val="dk1"/>
          </a:effectRef>
          <a:fontRef idx="minor">
            <a:schemeClr val="tx1"/>
          </a:fontRef>
        </p:style>
      </p:cxnSp>
      <p:sp>
        <p:nvSpPr>
          <p:cNvPr id="94" name="Freeform 93"/>
          <p:cNvSpPr/>
          <p:nvPr/>
        </p:nvSpPr>
        <p:spPr>
          <a:xfrm>
            <a:off x="3581400" y="1676400"/>
            <a:ext cx="1524000" cy="685800"/>
          </a:xfrm>
          <a:custGeom>
            <a:avLst/>
            <a:gdLst>
              <a:gd name="connsiteX0" fmla="*/ 0 w 2092036"/>
              <a:gd name="connsiteY0" fmla="*/ 39255 h 1106055"/>
              <a:gd name="connsiteX1" fmla="*/ 1288473 w 2092036"/>
              <a:gd name="connsiteY1" fmla="*/ 177800 h 1106055"/>
              <a:gd name="connsiteX2" fmla="*/ 2092036 w 2092036"/>
              <a:gd name="connsiteY2" fmla="*/ 1106055 h 1106055"/>
              <a:gd name="connsiteX0" fmla="*/ 0 w 2092036"/>
              <a:gd name="connsiteY0" fmla="*/ 39255 h 1106055"/>
              <a:gd name="connsiteX1" fmla="*/ 1323109 w 2092036"/>
              <a:gd name="connsiteY1" fmla="*/ 177800 h 1106055"/>
              <a:gd name="connsiteX2" fmla="*/ 2092036 w 2092036"/>
              <a:gd name="connsiteY2" fmla="*/ 1106055 h 1106055"/>
              <a:gd name="connsiteX0" fmla="*/ 0 w 2092036"/>
              <a:gd name="connsiteY0" fmla="*/ 163946 h 1230746"/>
              <a:gd name="connsiteX1" fmla="*/ 1323109 w 2092036"/>
              <a:gd name="connsiteY1" fmla="*/ 302491 h 1230746"/>
              <a:gd name="connsiteX2" fmla="*/ 2092036 w 2092036"/>
              <a:gd name="connsiteY2" fmla="*/ 1230746 h 1230746"/>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129310 h 1196110"/>
              <a:gd name="connsiteX1" fmla="*/ 1246909 w 2092036"/>
              <a:gd name="connsiteY1" fmla="*/ 191655 h 1196110"/>
              <a:gd name="connsiteX2" fmla="*/ 2092036 w 2092036"/>
              <a:gd name="connsiteY2" fmla="*/ 1196110 h 1196110"/>
              <a:gd name="connsiteX0" fmla="*/ 0 w 2092036"/>
              <a:gd name="connsiteY0" fmla="*/ 53110 h 1119910"/>
              <a:gd name="connsiteX1" fmla="*/ 1246909 w 2092036"/>
              <a:gd name="connsiteY1" fmla="*/ 191655 h 1119910"/>
              <a:gd name="connsiteX2" fmla="*/ 2092036 w 2092036"/>
              <a:gd name="connsiteY2" fmla="*/ 1119910 h 1119910"/>
              <a:gd name="connsiteX0" fmla="*/ 0 w 2092036"/>
              <a:gd name="connsiteY0" fmla="*/ 53110 h 1119910"/>
              <a:gd name="connsiteX1" fmla="*/ 1246909 w 2092036"/>
              <a:gd name="connsiteY1" fmla="*/ 191655 h 1119910"/>
              <a:gd name="connsiteX2" fmla="*/ 2092036 w 2092036"/>
              <a:gd name="connsiteY2" fmla="*/ 1119910 h 1119910"/>
            </a:gdLst>
            <a:ahLst/>
            <a:cxnLst>
              <a:cxn ang="0">
                <a:pos x="connsiteX0" y="connsiteY0"/>
              </a:cxn>
              <a:cxn ang="0">
                <a:pos x="connsiteX1" y="connsiteY1"/>
              </a:cxn>
              <a:cxn ang="0">
                <a:pos x="connsiteX2" y="connsiteY2"/>
              </a:cxn>
            </a:cxnLst>
            <a:rect l="l" t="t" r="r" b="b"/>
            <a:pathLst>
              <a:path w="2092036" h="1119910">
                <a:moveTo>
                  <a:pt x="0" y="53110"/>
                </a:moveTo>
                <a:cubicBezTo>
                  <a:pt x="469900" y="33482"/>
                  <a:pt x="939799" y="0"/>
                  <a:pt x="1246909" y="191655"/>
                </a:cubicBezTo>
                <a:cubicBezTo>
                  <a:pt x="1567873" y="438728"/>
                  <a:pt x="1951182" y="960583"/>
                  <a:pt x="2092036" y="111991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cxnSp>
        <p:nvCxnSpPr>
          <p:cNvPr id="95" name="Straight Connector 94"/>
          <p:cNvCxnSpPr/>
          <p:nvPr/>
        </p:nvCxnSpPr>
        <p:spPr>
          <a:xfrm>
            <a:off x="5562600" y="2514600"/>
            <a:ext cx="0" cy="838200"/>
          </a:xfrm>
          <a:prstGeom prst="line">
            <a:avLst/>
          </a:prstGeom>
        </p:spPr>
        <p:style>
          <a:lnRef idx="2">
            <a:schemeClr val="dk1"/>
          </a:lnRef>
          <a:fillRef idx="0">
            <a:schemeClr val="dk1"/>
          </a:fillRef>
          <a:effectRef idx="1">
            <a:schemeClr val="dk1"/>
          </a:effectRef>
          <a:fontRef idx="minor">
            <a:schemeClr val="tx1"/>
          </a:fontRef>
        </p:style>
      </p:cxnSp>
      <p:cxnSp>
        <p:nvCxnSpPr>
          <p:cNvPr id="96" name="Straight Connector 95"/>
          <p:cNvCxnSpPr/>
          <p:nvPr/>
        </p:nvCxnSpPr>
        <p:spPr>
          <a:xfrm>
            <a:off x="5562600" y="3352800"/>
            <a:ext cx="1676400" cy="0"/>
          </a:xfrm>
          <a:prstGeom prst="line">
            <a:avLst/>
          </a:prstGeom>
        </p:spPr>
        <p:style>
          <a:lnRef idx="2">
            <a:schemeClr val="dk1"/>
          </a:lnRef>
          <a:fillRef idx="0">
            <a:schemeClr val="dk1"/>
          </a:fillRef>
          <a:effectRef idx="1">
            <a:schemeClr val="dk1"/>
          </a:effectRef>
          <a:fontRef idx="minor">
            <a:schemeClr val="tx1"/>
          </a:fontRef>
        </p:style>
      </p:cxnSp>
      <p:sp>
        <p:nvSpPr>
          <p:cNvPr id="97" name="Freeform 96"/>
          <p:cNvSpPr/>
          <p:nvPr/>
        </p:nvSpPr>
        <p:spPr>
          <a:xfrm>
            <a:off x="5562600" y="2590800"/>
            <a:ext cx="1524000" cy="685800"/>
          </a:xfrm>
          <a:custGeom>
            <a:avLst/>
            <a:gdLst>
              <a:gd name="connsiteX0" fmla="*/ 0 w 2092036"/>
              <a:gd name="connsiteY0" fmla="*/ 39255 h 1106055"/>
              <a:gd name="connsiteX1" fmla="*/ 1288473 w 2092036"/>
              <a:gd name="connsiteY1" fmla="*/ 177800 h 1106055"/>
              <a:gd name="connsiteX2" fmla="*/ 2092036 w 2092036"/>
              <a:gd name="connsiteY2" fmla="*/ 1106055 h 1106055"/>
              <a:gd name="connsiteX0" fmla="*/ 0 w 2092036"/>
              <a:gd name="connsiteY0" fmla="*/ 39255 h 1106055"/>
              <a:gd name="connsiteX1" fmla="*/ 1323109 w 2092036"/>
              <a:gd name="connsiteY1" fmla="*/ 177800 h 1106055"/>
              <a:gd name="connsiteX2" fmla="*/ 2092036 w 2092036"/>
              <a:gd name="connsiteY2" fmla="*/ 1106055 h 1106055"/>
              <a:gd name="connsiteX0" fmla="*/ 0 w 2092036"/>
              <a:gd name="connsiteY0" fmla="*/ 163946 h 1230746"/>
              <a:gd name="connsiteX1" fmla="*/ 1323109 w 2092036"/>
              <a:gd name="connsiteY1" fmla="*/ 302491 h 1230746"/>
              <a:gd name="connsiteX2" fmla="*/ 2092036 w 2092036"/>
              <a:gd name="connsiteY2" fmla="*/ 1230746 h 1230746"/>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129310 h 1196110"/>
              <a:gd name="connsiteX1" fmla="*/ 1246909 w 2092036"/>
              <a:gd name="connsiteY1" fmla="*/ 191655 h 1196110"/>
              <a:gd name="connsiteX2" fmla="*/ 2092036 w 2092036"/>
              <a:gd name="connsiteY2" fmla="*/ 1196110 h 1196110"/>
              <a:gd name="connsiteX0" fmla="*/ 0 w 2092036"/>
              <a:gd name="connsiteY0" fmla="*/ 53110 h 1119910"/>
              <a:gd name="connsiteX1" fmla="*/ 1246909 w 2092036"/>
              <a:gd name="connsiteY1" fmla="*/ 191655 h 1119910"/>
              <a:gd name="connsiteX2" fmla="*/ 2092036 w 2092036"/>
              <a:gd name="connsiteY2" fmla="*/ 1119910 h 1119910"/>
              <a:gd name="connsiteX0" fmla="*/ 0 w 2092036"/>
              <a:gd name="connsiteY0" fmla="*/ 53110 h 1119910"/>
              <a:gd name="connsiteX1" fmla="*/ 1246909 w 2092036"/>
              <a:gd name="connsiteY1" fmla="*/ 191655 h 1119910"/>
              <a:gd name="connsiteX2" fmla="*/ 2092036 w 2092036"/>
              <a:gd name="connsiteY2" fmla="*/ 1119910 h 1119910"/>
            </a:gdLst>
            <a:ahLst/>
            <a:cxnLst>
              <a:cxn ang="0">
                <a:pos x="connsiteX0" y="connsiteY0"/>
              </a:cxn>
              <a:cxn ang="0">
                <a:pos x="connsiteX1" y="connsiteY1"/>
              </a:cxn>
              <a:cxn ang="0">
                <a:pos x="connsiteX2" y="connsiteY2"/>
              </a:cxn>
            </a:cxnLst>
            <a:rect l="l" t="t" r="r" b="b"/>
            <a:pathLst>
              <a:path w="2092036" h="1119910">
                <a:moveTo>
                  <a:pt x="0" y="53110"/>
                </a:moveTo>
                <a:cubicBezTo>
                  <a:pt x="469900" y="33482"/>
                  <a:pt x="939799" y="0"/>
                  <a:pt x="1246909" y="191655"/>
                </a:cubicBezTo>
                <a:cubicBezTo>
                  <a:pt x="1567873" y="438728"/>
                  <a:pt x="1951182" y="960583"/>
                  <a:pt x="2092036" y="1119910"/>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98" name="Freeform 97"/>
          <p:cNvSpPr/>
          <p:nvPr/>
        </p:nvSpPr>
        <p:spPr>
          <a:xfrm>
            <a:off x="1981200" y="5943600"/>
            <a:ext cx="1524000" cy="685800"/>
          </a:xfrm>
          <a:custGeom>
            <a:avLst/>
            <a:gdLst>
              <a:gd name="connsiteX0" fmla="*/ 0 w 2092036"/>
              <a:gd name="connsiteY0" fmla="*/ 39255 h 1106055"/>
              <a:gd name="connsiteX1" fmla="*/ 1288473 w 2092036"/>
              <a:gd name="connsiteY1" fmla="*/ 177800 h 1106055"/>
              <a:gd name="connsiteX2" fmla="*/ 2092036 w 2092036"/>
              <a:gd name="connsiteY2" fmla="*/ 1106055 h 1106055"/>
              <a:gd name="connsiteX0" fmla="*/ 0 w 2092036"/>
              <a:gd name="connsiteY0" fmla="*/ 39255 h 1106055"/>
              <a:gd name="connsiteX1" fmla="*/ 1323109 w 2092036"/>
              <a:gd name="connsiteY1" fmla="*/ 177800 h 1106055"/>
              <a:gd name="connsiteX2" fmla="*/ 2092036 w 2092036"/>
              <a:gd name="connsiteY2" fmla="*/ 1106055 h 1106055"/>
              <a:gd name="connsiteX0" fmla="*/ 0 w 2092036"/>
              <a:gd name="connsiteY0" fmla="*/ 163946 h 1230746"/>
              <a:gd name="connsiteX1" fmla="*/ 1323109 w 2092036"/>
              <a:gd name="connsiteY1" fmla="*/ 302491 h 1230746"/>
              <a:gd name="connsiteX2" fmla="*/ 2092036 w 2092036"/>
              <a:gd name="connsiteY2" fmla="*/ 1230746 h 1230746"/>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53110 h 1119910"/>
              <a:gd name="connsiteX1" fmla="*/ 1323109 w 2092036"/>
              <a:gd name="connsiteY1" fmla="*/ 191655 h 1119910"/>
              <a:gd name="connsiteX2" fmla="*/ 2092036 w 2092036"/>
              <a:gd name="connsiteY2" fmla="*/ 1119910 h 1119910"/>
              <a:gd name="connsiteX0" fmla="*/ 0 w 2092036"/>
              <a:gd name="connsiteY0" fmla="*/ 129310 h 1196110"/>
              <a:gd name="connsiteX1" fmla="*/ 1246909 w 2092036"/>
              <a:gd name="connsiteY1" fmla="*/ 191655 h 1196110"/>
              <a:gd name="connsiteX2" fmla="*/ 2092036 w 2092036"/>
              <a:gd name="connsiteY2" fmla="*/ 1196110 h 1196110"/>
              <a:gd name="connsiteX0" fmla="*/ 0 w 2092036"/>
              <a:gd name="connsiteY0" fmla="*/ 53110 h 1119910"/>
              <a:gd name="connsiteX1" fmla="*/ 1246909 w 2092036"/>
              <a:gd name="connsiteY1" fmla="*/ 191655 h 1119910"/>
              <a:gd name="connsiteX2" fmla="*/ 2092036 w 2092036"/>
              <a:gd name="connsiteY2" fmla="*/ 1119910 h 1119910"/>
              <a:gd name="connsiteX0" fmla="*/ 0 w 2092036"/>
              <a:gd name="connsiteY0" fmla="*/ 53110 h 1119910"/>
              <a:gd name="connsiteX1" fmla="*/ 1246909 w 2092036"/>
              <a:gd name="connsiteY1" fmla="*/ 191655 h 1119910"/>
              <a:gd name="connsiteX2" fmla="*/ 2092036 w 2092036"/>
              <a:gd name="connsiteY2" fmla="*/ 1119910 h 1119910"/>
            </a:gdLst>
            <a:ahLst/>
            <a:cxnLst>
              <a:cxn ang="0">
                <a:pos x="connsiteX0" y="connsiteY0"/>
              </a:cxn>
              <a:cxn ang="0">
                <a:pos x="connsiteX1" y="connsiteY1"/>
              </a:cxn>
              <a:cxn ang="0">
                <a:pos x="connsiteX2" y="connsiteY2"/>
              </a:cxn>
            </a:cxnLst>
            <a:rect l="l" t="t" r="r" b="b"/>
            <a:pathLst>
              <a:path w="2092036" h="1119910">
                <a:moveTo>
                  <a:pt x="0" y="53110"/>
                </a:moveTo>
                <a:cubicBezTo>
                  <a:pt x="469900" y="33482"/>
                  <a:pt x="939799" y="0"/>
                  <a:pt x="1246909" y="191655"/>
                </a:cubicBezTo>
                <a:cubicBezTo>
                  <a:pt x="1567873" y="438728"/>
                  <a:pt x="1951182" y="960583"/>
                  <a:pt x="2092036" y="1119910"/>
                </a:cubicBezTo>
              </a:path>
            </a:pathLst>
          </a:custGeom>
          <a:scene3d>
            <a:camera prst="orthographicFront">
              <a:rot lat="0" lon="10800000" rev="0"/>
            </a:camera>
            <a:lightRig rig="threePt" dir="t"/>
          </a:scene3d>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cxnSp>
        <p:nvCxnSpPr>
          <p:cNvPr id="99" name="Straight Connector 98"/>
          <p:cNvCxnSpPr/>
          <p:nvPr/>
        </p:nvCxnSpPr>
        <p:spPr>
          <a:xfrm>
            <a:off x="1905000" y="5791200"/>
            <a:ext cx="0" cy="838200"/>
          </a:xfrm>
          <a:prstGeom prst="line">
            <a:avLst/>
          </a:prstGeom>
        </p:spPr>
        <p:style>
          <a:lnRef idx="2">
            <a:schemeClr val="dk1"/>
          </a:lnRef>
          <a:fillRef idx="0">
            <a:schemeClr val="dk1"/>
          </a:fillRef>
          <a:effectRef idx="1">
            <a:schemeClr val="dk1"/>
          </a:effectRef>
          <a:fontRef idx="minor">
            <a:schemeClr val="tx1"/>
          </a:fontRef>
        </p:style>
      </p:cxnSp>
      <p:cxnSp>
        <p:nvCxnSpPr>
          <p:cNvPr id="100" name="Straight Connector 99"/>
          <p:cNvCxnSpPr/>
          <p:nvPr/>
        </p:nvCxnSpPr>
        <p:spPr>
          <a:xfrm>
            <a:off x="1905000" y="6629400"/>
            <a:ext cx="1676400" cy="0"/>
          </a:xfrm>
          <a:prstGeom prst="line">
            <a:avLst/>
          </a:prstGeom>
        </p:spPr>
        <p:style>
          <a:lnRef idx="2">
            <a:schemeClr val="dk1"/>
          </a:lnRef>
          <a:fillRef idx="0">
            <a:schemeClr val="dk1"/>
          </a:fillRef>
          <a:effectRef idx="1">
            <a:schemeClr val="dk1"/>
          </a:effectRef>
          <a:fontRef idx="minor">
            <a:schemeClr val="tx1"/>
          </a:fontRef>
        </p:style>
      </p:cxnSp>
      <p:sp>
        <p:nvSpPr>
          <p:cNvPr id="101" name="TextBox 100"/>
          <p:cNvSpPr txBox="1"/>
          <p:nvPr/>
        </p:nvSpPr>
        <p:spPr>
          <a:xfrm>
            <a:off x="1905000" y="2133600"/>
            <a:ext cx="1044838" cy="369332"/>
          </a:xfrm>
          <a:prstGeom prst="rect">
            <a:avLst/>
          </a:prstGeom>
          <a:noFill/>
        </p:spPr>
        <p:txBody>
          <a:bodyPr wrap="none" rtlCol="0">
            <a:spAutoFit/>
          </a:bodyPr>
          <a:lstStyle/>
          <a:p>
            <a:r>
              <a:rPr lang="en-US" dirty="0" smtClean="0"/>
              <a:t>Low Pass</a:t>
            </a:r>
            <a:endParaRPr lang="en-US" dirty="0"/>
          </a:p>
        </p:txBody>
      </p:sp>
      <p:sp>
        <p:nvSpPr>
          <p:cNvPr id="103" name="TextBox 102"/>
          <p:cNvSpPr txBox="1"/>
          <p:nvPr/>
        </p:nvSpPr>
        <p:spPr>
          <a:xfrm>
            <a:off x="3200400" y="1219200"/>
            <a:ext cx="1923027" cy="369332"/>
          </a:xfrm>
          <a:prstGeom prst="rect">
            <a:avLst/>
          </a:prstGeom>
          <a:noFill/>
        </p:spPr>
        <p:txBody>
          <a:bodyPr wrap="none" rtlCol="0">
            <a:spAutoFit/>
          </a:bodyPr>
          <a:lstStyle/>
          <a:p>
            <a:r>
              <a:rPr lang="en-US" dirty="0" smtClean="0"/>
              <a:t>Inverting Low Pass</a:t>
            </a:r>
            <a:endParaRPr lang="en-US" dirty="0"/>
          </a:p>
        </p:txBody>
      </p:sp>
      <p:sp>
        <p:nvSpPr>
          <p:cNvPr id="104" name="TextBox 103"/>
          <p:cNvSpPr txBox="1"/>
          <p:nvPr/>
        </p:nvSpPr>
        <p:spPr>
          <a:xfrm>
            <a:off x="3733800" y="6096000"/>
            <a:ext cx="1950919" cy="369332"/>
          </a:xfrm>
          <a:prstGeom prst="rect">
            <a:avLst/>
          </a:prstGeom>
          <a:noFill/>
        </p:spPr>
        <p:txBody>
          <a:bodyPr wrap="none" rtlCol="0">
            <a:spAutoFit/>
          </a:bodyPr>
          <a:lstStyle/>
          <a:p>
            <a:r>
              <a:rPr lang="en-US" dirty="0" smtClean="0"/>
              <a:t>Inverting High </a:t>
            </a:r>
            <a:r>
              <a:rPr lang="en-US" dirty="0" smtClean="0"/>
              <a:t>Pass</a:t>
            </a:r>
            <a:endParaRPr lang="en-US" dirty="0"/>
          </a:p>
        </p:txBody>
      </p:sp>
      <p:sp>
        <p:nvSpPr>
          <p:cNvPr id="108" name="TextBox 107"/>
          <p:cNvSpPr txBox="1"/>
          <p:nvPr/>
        </p:nvSpPr>
        <p:spPr>
          <a:xfrm>
            <a:off x="5715000" y="2133600"/>
            <a:ext cx="1044838" cy="369332"/>
          </a:xfrm>
          <a:prstGeom prst="rect">
            <a:avLst/>
          </a:prstGeom>
          <a:noFill/>
        </p:spPr>
        <p:txBody>
          <a:bodyPr wrap="none" rtlCol="0">
            <a:spAutoFit/>
          </a:bodyPr>
          <a:lstStyle/>
          <a:p>
            <a:r>
              <a:rPr lang="en-US" dirty="0" smtClean="0"/>
              <a:t>Low Pass</a:t>
            </a:r>
            <a:endParaRPr lang="en-US" dirty="0"/>
          </a:p>
        </p:txBody>
      </p:sp>
    </p:spTree>
    <p:extLst>
      <p:ext uri="{BB962C8B-B14F-4D97-AF65-F5344CB8AC3E}">
        <p14:creationId xmlns:p14="http://schemas.microsoft.com/office/powerpoint/2010/main" val="38354056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Filter Applications – ECG</a:t>
            </a:r>
            <a:endParaRPr lang="en-US" dirty="0"/>
          </a:p>
        </p:txBody>
      </p:sp>
      <p:sp>
        <p:nvSpPr>
          <p:cNvPr id="6" name="Content Placeholder 5"/>
          <p:cNvSpPr>
            <a:spLocks noGrp="1"/>
          </p:cNvSpPr>
          <p:nvPr>
            <p:ph idx="1"/>
          </p:nvPr>
        </p:nvSpPr>
        <p:spPr/>
        <p:txBody>
          <a:bodyPr/>
          <a:lstStyle/>
          <a:p>
            <a:r>
              <a:rPr lang="en-US" dirty="0" smtClean="0"/>
              <a:t>Servo Loop</a:t>
            </a:r>
          </a:p>
          <a:p>
            <a:pPr lvl="1"/>
            <a:r>
              <a:rPr lang="en-US" dirty="0" smtClean="0"/>
              <a:t>Inverting Low Pass filter</a:t>
            </a:r>
          </a:p>
          <a:p>
            <a:pPr lvl="1"/>
            <a:r>
              <a:rPr lang="en-US" dirty="0" smtClean="0"/>
              <a:t>Output sent to Reference pin of INA</a:t>
            </a:r>
          </a:p>
          <a:p>
            <a:pPr lvl="1"/>
            <a:r>
              <a:rPr lang="en-US" dirty="0" smtClean="0"/>
              <a:t>Effective High Pass</a:t>
            </a:r>
          </a:p>
        </p:txBody>
      </p:sp>
      <p:pic>
        <p:nvPicPr>
          <p:cNvPr id="1026" name="Picture 2"/>
          <p:cNvPicPr>
            <a:picLocks noChangeAspect="1" noChangeArrowheads="1"/>
          </p:cNvPicPr>
          <p:nvPr/>
        </p:nvPicPr>
        <p:blipFill>
          <a:blip r:embed="rId2" cstate="print"/>
          <a:srcRect l="25769" t="11924" r="34993" b="19783"/>
          <a:stretch>
            <a:fillRect/>
          </a:stretch>
        </p:blipFill>
        <p:spPr bwMode="auto">
          <a:xfrm>
            <a:off x="5334000" y="3124200"/>
            <a:ext cx="3646714"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2743200"/>
            <a:ext cx="7498080" cy="1143000"/>
          </a:xfrm>
        </p:spPr>
        <p:txBody>
          <a:bodyPr/>
          <a:lstStyle/>
          <a:p>
            <a:r>
              <a:rPr lang="en-US" dirty="0" smtClean="0"/>
              <a:t>Questions?</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701</TotalTime>
  <Words>577</Words>
  <Application>Microsoft Office PowerPoint</Application>
  <PresentationFormat>On-screen Show (4:3)</PresentationFormat>
  <Paragraphs>186</Paragraphs>
  <Slides>29</Slides>
  <Notes>5</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Solstice</vt:lpstr>
      <vt:lpstr>Filter Design and Applications</vt:lpstr>
      <vt:lpstr>Outline</vt:lpstr>
      <vt:lpstr>Introduction</vt:lpstr>
      <vt:lpstr>Filter Designs – Order  and Cutoff Frequency</vt:lpstr>
      <vt:lpstr>Filter Designs – Low Pass</vt:lpstr>
      <vt:lpstr>Filter Designs – Low Pass</vt:lpstr>
      <vt:lpstr>Filter Designs – High Pass</vt:lpstr>
      <vt:lpstr>Filter Designs – Bandwidth</vt:lpstr>
      <vt:lpstr>Filter Designs – Band Pass </vt:lpstr>
      <vt:lpstr>Filter Designs – Differential</vt:lpstr>
      <vt:lpstr>Filter Designs – Differential</vt:lpstr>
      <vt:lpstr>Filter Designs – Differential</vt:lpstr>
      <vt:lpstr>Filter Designs – Differential</vt:lpstr>
      <vt:lpstr>Filter Applications – Power </vt:lpstr>
      <vt:lpstr>Filter Applications – Power </vt:lpstr>
      <vt:lpstr>Filter Applications – Power </vt:lpstr>
      <vt:lpstr>Filter Applications – Power </vt:lpstr>
      <vt:lpstr>Filter Applications – Audio </vt:lpstr>
      <vt:lpstr>Filter Applications – Audio </vt:lpstr>
      <vt:lpstr>Filter Applications – Audio </vt:lpstr>
      <vt:lpstr>Filter Designs – Band Stop </vt:lpstr>
      <vt:lpstr>Filter Applications – Band Stop </vt:lpstr>
      <vt:lpstr>PowerPoint Presentation</vt:lpstr>
      <vt:lpstr>Filter Applications – Band Stop </vt:lpstr>
      <vt:lpstr>Filter Applications – Band Stop </vt:lpstr>
      <vt:lpstr>Filter Applications – ECG</vt:lpstr>
      <vt:lpstr>Filter Applications – ECG</vt:lpstr>
      <vt:lpstr>Filter Applications – ECG</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Filter Design and Application</dc:title>
  <dc:creator>Nate</dc:creator>
  <cp:lastModifiedBy>kestonat</cp:lastModifiedBy>
  <cp:revision>68</cp:revision>
  <dcterms:created xsi:type="dcterms:W3CDTF">2013-03-26T21:46:31Z</dcterms:created>
  <dcterms:modified xsi:type="dcterms:W3CDTF">2013-03-29T13:44:34Z</dcterms:modified>
</cp:coreProperties>
</file>